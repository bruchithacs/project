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256" r:id="rId5"/>
    <p:sldId id="290" r:id="rId6"/>
    <p:sldId id="291" r:id="rId7"/>
    <p:sldId id="292" r:id="rId8"/>
    <p:sldId id="293" r:id="rId9"/>
    <p:sldId id="286" r:id="rId10"/>
    <p:sldId id="287" r:id="rId11"/>
    <p:sldId id="288" r:id="rId12"/>
    <p:sldId id="289" r:id="rId13"/>
    <p:sldId id="29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75AC"/>
    <a:srgbClr val="103350"/>
    <a:srgbClr val="0C4360"/>
    <a:srgbClr val="1B6872"/>
    <a:srgbClr val="63B7C6"/>
    <a:srgbClr val="002136"/>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53"/>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11/26/2025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11/26/2025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36">
          <p15:clr>
            <a:srgbClr val="F26B43"/>
          </p15:clr>
        </p15:guide>
        <p15:guide id="4" orient="horz" pos="336">
          <p15:clr>
            <a:srgbClr val="F26B43"/>
          </p15:clr>
        </p15:guide>
        <p15:guide id="5" pos="7344">
          <p15:clr>
            <a:srgbClr val="F26B43"/>
          </p15:clr>
        </p15:guide>
        <p15:guide id="6" orient="horz" pos="39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243226" y="960740"/>
            <a:ext cx="9125712" cy="2123028"/>
          </a:xfrm>
        </p:spPr>
        <p:txBody>
          <a:bodyPr/>
          <a:lstStyle/>
          <a:p>
            <a:r>
              <a:rPr lang="en-US" sz="4000" dirty="0"/>
              <a:t>"Building the CSE Department Portal: Our Full-Stack Project"</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9676622" y="4821542"/>
            <a:ext cx="4034424" cy="868680"/>
          </a:xfrm>
        </p:spPr>
        <p:txBody>
          <a:bodyPr>
            <a:noAutofit/>
          </a:bodyPr>
          <a:lstStyle/>
          <a:p>
            <a:pPr marL="0" indent="0">
              <a:buNone/>
            </a:pPr>
            <a:r>
              <a:rPr lang="en-US" sz="1600" dirty="0"/>
              <a:t>Presented by: </a:t>
            </a:r>
          </a:p>
          <a:p>
            <a:r>
              <a:rPr lang="en-US" sz="1600" dirty="0"/>
              <a:t>B Ruchitha</a:t>
            </a:r>
          </a:p>
          <a:p>
            <a:r>
              <a:rPr lang="en-US" sz="1600" dirty="0"/>
              <a:t>Bhoomika</a:t>
            </a:r>
          </a:p>
          <a:p>
            <a:r>
              <a:rPr lang="en-US" sz="1600" dirty="0"/>
              <a:t>Bharat Hegde</a:t>
            </a:r>
          </a:p>
          <a:p>
            <a:r>
              <a:rPr lang="en-US" sz="1600" dirty="0"/>
              <a:t>Bharat M G</a:t>
            </a:r>
          </a:p>
          <a:p>
            <a:pPr marL="0" indent="0">
              <a:buNone/>
            </a:pPr>
            <a:endParaRPr lang="en-US" sz="2000" dirty="0"/>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39469345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advTm="659">
        <p15:prstTrans prst="curtains"/>
      </p:transition>
    </mc:Choice>
    <mc:Fallback xmlns="">
      <p:transition spd="slow" advTm="659">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043D5-EADD-CBA6-91A1-0BF1BA991355}"/>
              </a:ext>
            </a:extLst>
          </p:cNvPr>
          <p:cNvSpPr>
            <a:spLocks noGrp="1"/>
          </p:cNvSpPr>
          <p:nvPr>
            <p:ph type="title"/>
          </p:nvPr>
        </p:nvSpPr>
        <p:spPr>
          <a:xfrm>
            <a:off x="488950" y="785993"/>
            <a:ext cx="11214100" cy="535531"/>
          </a:xfrm>
        </p:spPr>
        <p:txBody>
          <a:bodyPr/>
          <a:lstStyle/>
          <a:p>
            <a:r>
              <a:rPr lang="en-IN" dirty="0"/>
              <a:t>CSE WEB PORTAL </a:t>
            </a:r>
          </a:p>
        </p:txBody>
      </p:sp>
      <p:sp>
        <p:nvSpPr>
          <p:cNvPr id="3" name="Slide Number Placeholder 2">
            <a:extLst>
              <a:ext uri="{FF2B5EF4-FFF2-40B4-BE49-F238E27FC236}">
                <a16:creationId xmlns:a16="http://schemas.microsoft.com/office/drawing/2014/main" id="{41C66397-2DCB-02FB-8859-50F666B92E0E}"/>
              </a:ext>
            </a:extLst>
          </p:cNvPr>
          <p:cNvSpPr>
            <a:spLocks noGrp="1"/>
          </p:cNvSpPr>
          <p:nvPr>
            <p:ph type="sldNum" sz="quarter" idx="12"/>
          </p:nvPr>
        </p:nvSpPr>
        <p:spPr/>
        <p:txBody>
          <a:bodyPr/>
          <a:lstStyle/>
          <a:p>
            <a:fld id="{C263D6C4-4840-40CC-AC84-17E24B3B7BDE}" type="slidenum">
              <a:rPr lang="en-US" noProof="0" smtClean="0"/>
              <a:pPr/>
              <a:t>2</a:t>
            </a:fld>
            <a:endParaRPr lang="en-US" noProof="0" dirty="0"/>
          </a:p>
        </p:txBody>
      </p:sp>
      <p:sp>
        <p:nvSpPr>
          <p:cNvPr id="4" name="Text Placeholder 3">
            <a:extLst>
              <a:ext uri="{FF2B5EF4-FFF2-40B4-BE49-F238E27FC236}">
                <a16:creationId xmlns:a16="http://schemas.microsoft.com/office/drawing/2014/main" id="{895FCDA5-A9D6-6E8E-9E7D-A1E4F6B8D098}"/>
              </a:ext>
            </a:extLst>
          </p:cNvPr>
          <p:cNvSpPr>
            <a:spLocks noGrp="1"/>
          </p:cNvSpPr>
          <p:nvPr>
            <p:ph type="body" sz="quarter" idx="13"/>
          </p:nvPr>
        </p:nvSpPr>
        <p:spPr>
          <a:xfrm>
            <a:off x="444500" y="2065284"/>
            <a:ext cx="6718300" cy="4093243"/>
          </a:xfrm>
        </p:spPr>
        <p:txBody>
          <a:bodyPr/>
          <a:lstStyle/>
          <a:p>
            <a:pPr marL="0" indent="0">
              <a:buNone/>
            </a:pPr>
            <a:r>
              <a:rPr lang="en-US" sz="2000" b="1" dirty="0"/>
              <a:t>Introduction: </a:t>
            </a:r>
          </a:p>
          <a:p>
            <a:pPr marL="0" indent="0">
              <a:buNone/>
            </a:pPr>
            <a:r>
              <a:rPr lang="en-US" sz="1800" dirty="0"/>
              <a:t>The CSE Department Portal is a web application developed for the Computer Science and Engineering department. It enables students to access academic resources like study materials, syllabi, and announcements, while admins can manage these resources securely with full CRUD operations. The project focuses on a user-friendly interface with glass-morphism design and secure backend integration.</a:t>
            </a:r>
          </a:p>
          <a:p>
            <a:endParaRPr lang="en-IN" dirty="0"/>
          </a:p>
        </p:txBody>
      </p:sp>
      <p:pic>
        <p:nvPicPr>
          <p:cNvPr id="6" name="Picture 5">
            <a:extLst>
              <a:ext uri="{FF2B5EF4-FFF2-40B4-BE49-F238E27FC236}">
                <a16:creationId xmlns:a16="http://schemas.microsoft.com/office/drawing/2014/main" id="{BEF75522-DD30-1825-1BDC-28F32D550B10}"/>
              </a:ext>
            </a:extLst>
          </p:cNvPr>
          <p:cNvPicPr>
            <a:picLocks noChangeAspect="1"/>
          </p:cNvPicPr>
          <p:nvPr/>
        </p:nvPicPr>
        <p:blipFill>
          <a:blip r:embed="rId2"/>
          <a:stretch>
            <a:fillRect/>
          </a:stretch>
        </p:blipFill>
        <p:spPr>
          <a:xfrm>
            <a:off x="7326775" y="2229340"/>
            <a:ext cx="4677217" cy="270834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87196667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B99E0-6562-F266-E116-A9E84A8CD161}"/>
              </a:ext>
            </a:extLst>
          </p:cNvPr>
          <p:cNvSpPr>
            <a:spLocks noGrp="1"/>
          </p:cNvSpPr>
          <p:nvPr>
            <p:ph type="title"/>
          </p:nvPr>
        </p:nvSpPr>
        <p:spPr>
          <a:xfrm>
            <a:off x="652844" y="878591"/>
            <a:ext cx="11214100" cy="978729"/>
          </a:xfrm>
        </p:spPr>
        <p:txBody>
          <a:bodyPr/>
          <a:lstStyle/>
          <a:p>
            <a:r>
              <a:rPr lang="en-IN" b="1" dirty="0"/>
              <a:t>Technologies Used</a:t>
            </a:r>
            <a:r>
              <a:rPr lang="en-IN" dirty="0"/>
              <a:t>: </a:t>
            </a:r>
            <a:br>
              <a:rPr lang="en-IN" dirty="0"/>
            </a:br>
            <a:endParaRPr lang="en-IN" dirty="0"/>
          </a:p>
        </p:txBody>
      </p:sp>
      <p:sp>
        <p:nvSpPr>
          <p:cNvPr id="3" name="Slide Number Placeholder 2">
            <a:extLst>
              <a:ext uri="{FF2B5EF4-FFF2-40B4-BE49-F238E27FC236}">
                <a16:creationId xmlns:a16="http://schemas.microsoft.com/office/drawing/2014/main" id="{6F5629B1-AAB0-E12B-5F9F-18542EC710DC}"/>
              </a:ext>
            </a:extLst>
          </p:cNvPr>
          <p:cNvSpPr>
            <a:spLocks noGrp="1"/>
          </p:cNvSpPr>
          <p:nvPr>
            <p:ph type="sldNum" sz="quarter" idx="12"/>
          </p:nvPr>
        </p:nvSpPr>
        <p:spPr/>
        <p:txBody>
          <a:bodyPr/>
          <a:lstStyle/>
          <a:p>
            <a:fld id="{C263D6C4-4840-40CC-AC84-17E24B3B7BDE}" type="slidenum">
              <a:rPr lang="en-US" noProof="0" smtClean="0"/>
              <a:pPr/>
              <a:t>3</a:t>
            </a:fld>
            <a:endParaRPr lang="en-US" noProof="0" dirty="0"/>
          </a:p>
        </p:txBody>
      </p:sp>
      <p:sp>
        <p:nvSpPr>
          <p:cNvPr id="4" name="Text Placeholder 3">
            <a:extLst>
              <a:ext uri="{FF2B5EF4-FFF2-40B4-BE49-F238E27FC236}">
                <a16:creationId xmlns:a16="http://schemas.microsoft.com/office/drawing/2014/main" id="{8273E447-AF4D-399B-A0EC-045DBCF6A25E}"/>
              </a:ext>
            </a:extLst>
          </p:cNvPr>
          <p:cNvSpPr>
            <a:spLocks noGrp="1"/>
          </p:cNvSpPr>
          <p:nvPr>
            <p:ph type="body" sz="quarter" idx="13"/>
          </p:nvPr>
        </p:nvSpPr>
        <p:spPr/>
        <p:txBody>
          <a:bodyPr/>
          <a:lstStyle/>
          <a:p>
            <a:pPr marL="0" indent="0">
              <a:buNone/>
            </a:pPr>
            <a:endParaRPr lang="en-IN" dirty="0"/>
          </a:p>
          <a:p>
            <a:pPr>
              <a:buFont typeface="Arial" panose="020B0604020202020204" pitchFamily="34" charset="0"/>
              <a:buChar char="•"/>
            </a:pPr>
            <a:r>
              <a:rPr lang="en-IN" sz="2000" b="1" dirty="0"/>
              <a:t>Frontend:</a:t>
            </a:r>
            <a:r>
              <a:rPr lang="en-IN" sz="2000" dirty="0"/>
              <a:t> React.js, HTML, CSS (glass-morphism design and  responsive layouts) and JavaScript </a:t>
            </a:r>
          </a:p>
          <a:p>
            <a:pPr>
              <a:buFont typeface="Arial" panose="020B0604020202020204" pitchFamily="34" charset="0"/>
              <a:buChar char="•"/>
            </a:pPr>
            <a:r>
              <a:rPr lang="en-IN" sz="2000" b="1" dirty="0"/>
              <a:t>Backend: </a:t>
            </a:r>
            <a:r>
              <a:rPr lang="en-IN" sz="2000" dirty="0"/>
              <a:t>Spring Boot, Spring Security (for authentication with JSESSIONID)</a:t>
            </a:r>
          </a:p>
          <a:p>
            <a:pPr>
              <a:buFont typeface="Arial" panose="020B0604020202020204" pitchFamily="34" charset="0"/>
              <a:buChar char="•"/>
            </a:pPr>
            <a:r>
              <a:rPr lang="en-IN" sz="2000" b="1" dirty="0"/>
              <a:t>Database: </a:t>
            </a:r>
            <a:r>
              <a:rPr lang="en-IN" sz="2000" dirty="0"/>
              <a:t>MySQL</a:t>
            </a:r>
          </a:p>
          <a:p>
            <a:pPr>
              <a:buFont typeface="Arial" panose="020B0604020202020204" pitchFamily="34" charset="0"/>
              <a:buChar char="•"/>
            </a:pPr>
            <a:r>
              <a:rPr lang="en-IN" sz="2000" b="1" dirty="0"/>
              <a:t>API Communication: </a:t>
            </a:r>
            <a:r>
              <a:rPr lang="en-IN" sz="2000" dirty="0"/>
              <a:t>Axios (for secure API calls between frontend and backend)</a:t>
            </a:r>
          </a:p>
          <a:p>
            <a:pPr>
              <a:buFont typeface="Arial" panose="020B0604020202020204" pitchFamily="34" charset="0"/>
              <a:buChar char="•"/>
            </a:pPr>
            <a:r>
              <a:rPr lang="en-IN" sz="2000" b="1" dirty="0"/>
              <a:t>Testing: </a:t>
            </a:r>
            <a:r>
              <a:rPr lang="en-IN" sz="2000" dirty="0"/>
              <a:t>Postman (for API testing)</a:t>
            </a:r>
          </a:p>
          <a:p>
            <a:endParaRPr lang="en-IN" dirty="0"/>
          </a:p>
        </p:txBody>
      </p:sp>
      <p:pic>
        <p:nvPicPr>
          <p:cNvPr id="6" name="Picture 5">
            <a:extLst>
              <a:ext uri="{FF2B5EF4-FFF2-40B4-BE49-F238E27FC236}">
                <a16:creationId xmlns:a16="http://schemas.microsoft.com/office/drawing/2014/main" id="{4BF38316-DAC3-59CE-92F7-3B57E80353D8}"/>
              </a:ext>
            </a:extLst>
          </p:cNvPr>
          <p:cNvPicPr>
            <a:picLocks noChangeAspect="1"/>
          </p:cNvPicPr>
          <p:nvPr/>
        </p:nvPicPr>
        <p:blipFill>
          <a:blip r:embed="rId2"/>
          <a:stretch>
            <a:fillRect/>
          </a:stretch>
        </p:blipFill>
        <p:spPr>
          <a:xfrm>
            <a:off x="7421816" y="1857320"/>
            <a:ext cx="4117340" cy="274489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80243619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C5512-216F-701D-CAEB-4B06892159AC}"/>
              </a:ext>
            </a:extLst>
          </p:cNvPr>
          <p:cNvSpPr>
            <a:spLocks noGrp="1"/>
          </p:cNvSpPr>
          <p:nvPr>
            <p:ph type="title"/>
          </p:nvPr>
        </p:nvSpPr>
        <p:spPr>
          <a:xfrm>
            <a:off x="444500" y="542925"/>
            <a:ext cx="11214100" cy="978729"/>
          </a:xfrm>
        </p:spPr>
        <p:txBody>
          <a:bodyPr/>
          <a:lstStyle/>
          <a:p>
            <a:r>
              <a:rPr lang="en-IN" b="1" dirty="0"/>
              <a:t>System Architecture</a:t>
            </a:r>
            <a:r>
              <a:rPr lang="en-IN" dirty="0"/>
              <a:t>:</a:t>
            </a:r>
            <a:br>
              <a:rPr lang="en-IN" dirty="0"/>
            </a:br>
            <a:endParaRPr lang="en-IN" dirty="0"/>
          </a:p>
        </p:txBody>
      </p:sp>
      <p:sp>
        <p:nvSpPr>
          <p:cNvPr id="3" name="Slide Number Placeholder 2">
            <a:extLst>
              <a:ext uri="{FF2B5EF4-FFF2-40B4-BE49-F238E27FC236}">
                <a16:creationId xmlns:a16="http://schemas.microsoft.com/office/drawing/2014/main" id="{DAD2223B-53D3-9530-1422-DB48FA8AB368}"/>
              </a:ext>
            </a:extLst>
          </p:cNvPr>
          <p:cNvSpPr>
            <a:spLocks noGrp="1"/>
          </p:cNvSpPr>
          <p:nvPr>
            <p:ph type="sldNum" sz="quarter" idx="12"/>
          </p:nvPr>
        </p:nvSpPr>
        <p:spPr/>
        <p:txBody>
          <a:bodyPr/>
          <a:lstStyle/>
          <a:p>
            <a:fld id="{C263D6C4-4840-40CC-AC84-17E24B3B7BDE}" type="slidenum">
              <a:rPr lang="en-US" noProof="0" smtClean="0"/>
              <a:pPr/>
              <a:t>4</a:t>
            </a:fld>
            <a:endParaRPr lang="en-US" noProof="0" dirty="0"/>
          </a:p>
        </p:txBody>
      </p:sp>
      <p:sp>
        <p:nvSpPr>
          <p:cNvPr id="4" name="Text Placeholder 3">
            <a:extLst>
              <a:ext uri="{FF2B5EF4-FFF2-40B4-BE49-F238E27FC236}">
                <a16:creationId xmlns:a16="http://schemas.microsoft.com/office/drawing/2014/main" id="{4B03EB6B-6225-2F09-0D8B-E8A14F58628D}"/>
              </a:ext>
            </a:extLst>
          </p:cNvPr>
          <p:cNvSpPr>
            <a:spLocks noGrp="1"/>
          </p:cNvSpPr>
          <p:nvPr>
            <p:ph type="body" sz="quarter" idx="13"/>
          </p:nvPr>
        </p:nvSpPr>
        <p:spPr>
          <a:xfrm>
            <a:off x="444500" y="1741131"/>
            <a:ext cx="6718300" cy="4093243"/>
          </a:xfrm>
        </p:spPr>
        <p:txBody>
          <a:bodyPr/>
          <a:lstStyle/>
          <a:p>
            <a:pPr>
              <a:buFont typeface="Arial" panose="020B0604020202020204" pitchFamily="34" charset="0"/>
              <a:buChar char="•"/>
            </a:pPr>
            <a:r>
              <a:rPr lang="en-IN" sz="2000" dirty="0"/>
              <a:t>The portal follows a client-server architecture:" </a:t>
            </a:r>
          </a:p>
          <a:p>
            <a:pPr>
              <a:buFont typeface="Arial" panose="020B0604020202020204" pitchFamily="34" charset="0"/>
              <a:buChar char="•"/>
            </a:pPr>
            <a:r>
              <a:rPr lang="en-IN" sz="1800" b="1" dirty="0"/>
              <a:t>Frontend (React)</a:t>
            </a:r>
            <a:r>
              <a:rPr lang="en-IN" sz="1800" dirty="0"/>
              <a:t>: Handles UI with components like App.js (routing), Auth.js (login), and dashboards (Student-Dashboard, Admin-Dashboard).</a:t>
            </a:r>
          </a:p>
          <a:p>
            <a:pPr>
              <a:buFont typeface="Arial" panose="020B0604020202020204" pitchFamily="34" charset="0"/>
              <a:buChar char="•"/>
            </a:pPr>
            <a:r>
              <a:rPr lang="en-IN" sz="1800" b="1" dirty="0"/>
              <a:t>API Layer (Axios)</a:t>
            </a:r>
            <a:r>
              <a:rPr lang="en-IN" sz="1800" dirty="0"/>
              <a:t>: Manages secure communication using JSESSIONID for session-based authentication.</a:t>
            </a:r>
          </a:p>
          <a:p>
            <a:pPr>
              <a:buFont typeface="Arial" panose="020B0604020202020204" pitchFamily="34" charset="0"/>
              <a:buChar char="•"/>
            </a:pPr>
            <a:r>
              <a:rPr lang="en-IN" sz="1800" b="1" dirty="0"/>
              <a:t>Backend (Spring Boot)</a:t>
            </a:r>
            <a:r>
              <a:rPr lang="en-IN" sz="1800" dirty="0"/>
              <a:t>: Processes requests via controllers like User-Controller and Material-Controller.</a:t>
            </a:r>
          </a:p>
          <a:p>
            <a:pPr>
              <a:buFont typeface="Arial" panose="020B0604020202020204" pitchFamily="34" charset="0"/>
              <a:buChar char="•"/>
            </a:pPr>
            <a:r>
              <a:rPr lang="en-IN" sz="1800" b="1" dirty="0"/>
              <a:t>Database (MySQL)</a:t>
            </a:r>
            <a:r>
              <a:rPr lang="en-IN" sz="1800" dirty="0"/>
              <a:t>: Stores data in the project schema, including users, materials, and announcements</a:t>
            </a:r>
            <a:r>
              <a:rPr lang="en-IN" dirty="0"/>
              <a:t>.</a:t>
            </a:r>
          </a:p>
          <a:p>
            <a:endParaRPr lang="en-IN" dirty="0"/>
          </a:p>
        </p:txBody>
      </p:sp>
      <p:pic>
        <p:nvPicPr>
          <p:cNvPr id="6" name="Picture 5">
            <a:extLst>
              <a:ext uri="{FF2B5EF4-FFF2-40B4-BE49-F238E27FC236}">
                <a16:creationId xmlns:a16="http://schemas.microsoft.com/office/drawing/2014/main" id="{2FC78873-1AF4-6085-4934-BD51B58688FC}"/>
              </a:ext>
            </a:extLst>
          </p:cNvPr>
          <p:cNvPicPr>
            <a:picLocks noChangeAspect="1"/>
          </p:cNvPicPr>
          <p:nvPr/>
        </p:nvPicPr>
        <p:blipFill>
          <a:blip r:embed="rId2"/>
          <a:stretch>
            <a:fillRect/>
          </a:stretch>
        </p:blipFill>
        <p:spPr>
          <a:xfrm>
            <a:off x="7469690" y="1290095"/>
            <a:ext cx="4277810" cy="427781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07417483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3AC82-BAEE-B71E-68D5-2880266DDA9B}"/>
              </a:ext>
            </a:extLst>
          </p:cNvPr>
          <p:cNvSpPr>
            <a:spLocks noGrp="1"/>
          </p:cNvSpPr>
          <p:nvPr>
            <p:ph type="title"/>
          </p:nvPr>
        </p:nvSpPr>
        <p:spPr>
          <a:xfrm>
            <a:off x="444500" y="542925"/>
            <a:ext cx="11214100" cy="978729"/>
          </a:xfrm>
        </p:spPr>
        <p:txBody>
          <a:bodyPr/>
          <a:lstStyle/>
          <a:p>
            <a:r>
              <a:rPr lang="en-IN" b="1" dirty="0"/>
              <a:t>Core Features</a:t>
            </a:r>
            <a:r>
              <a:rPr lang="en-IN" dirty="0"/>
              <a:t>:</a:t>
            </a:r>
            <a:br>
              <a:rPr lang="en-IN" dirty="0"/>
            </a:br>
            <a:endParaRPr lang="en-IN" dirty="0"/>
          </a:p>
        </p:txBody>
      </p:sp>
      <p:sp>
        <p:nvSpPr>
          <p:cNvPr id="3" name="Slide Number Placeholder 2">
            <a:extLst>
              <a:ext uri="{FF2B5EF4-FFF2-40B4-BE49-F238E27FC236}">
                <a16:creationId xmlns:a16="http://schemas.microsoft.com/office/drawing/2014/main" id="{5857F914-BA3C-1183-4BBF-93568F0E6DF2}"/>
              </a:ext>
            </a:extLst>
          </p:cNvPr>
          <p:cNvSpPr>
            <a:spLocks noGrp="1"/>
          </p:cNvSpPr>
          <p:nvPr>
            <p:ph type="sldNum" sz="quarter" idx="12"/>
          </p:nvPr>
        </p:nvSpPr>
        <p:spPr/>
        <p:txBody>
          <a:bodyPr/>
          <a:lstStyle/>
          <a:p>
            <a:fld id="{C263D6C4-4840-40CC-AC84-17E24B3B7BDE}" type="slidenum">
              <a:rPr lang="en-US" noProof="0" smtClean="0"/>
              <a:pPr/>
              <a:t>5</a:t>
            </a:fld>
            <a:endParaRPr lang="en-US" noProof="0" dirty="0"/>
          </a:p>
        </p:txBody>
      </p:sp>
      <p:sp>
        <p:nvSpPr>
          <p:cNvPr id="4" name="Text Placeholder 3">
            <a:extLst>
              <a:ext uri="{FF2B5EF4-FFF2-40B4-BE49-F238E27FC236}">
                <a16:creationId xmlns:a16="http://schemas.microsoft.com/office/drawing/2014/main" id="{0A6A50A1-1528-CA9B-310E-4FADD780DBFE}"/>
              </a:ext>
            </a:extLst>
          </p:cNvPr>
          <p:cNvSpPr>
            <a:spLocks noGrp="1"/>
          </p:cNvSpPr>
          <p:nvPr>
            <p:ph type="body" sz="quarter" idx="13"/>
          </p:nvPr>
        </p:nvSpPr>
        <p:spPr/>
        <p:txBody>
          <a:bodyPr/>
          <a:lstStyle/>
          <a:p>
            <a:r>
              <a:rPr lang="en-US" sz="2000" b="1" dirty="0"/>
              <a:t>Role-Based Access: </a:t>
            </a:r>
            <a:r>
              <a:rPr lang="en-US" sz="2000" dirty="0"/>
              <a:t>Separate dashboards for students (ROLE_STUDENT) and admins (ROLE_ADMIN).</a:t>
            </a:r>
          </a:p>
          <a:p>
            <a:r>
              <a:rPr lang="en-US" sz="2000" b="1" dirty="0"/>
              <a:t>Resource Management: </a:t>
            </a:r>
            <a:r>
              <a:rPr lang="en-US" sz="2000" dirty="0"/>
              <a:t>Admins can perform CRUD operations on materials, announcements, and syllabus.</a:t>
            </a:r>
          </a:p>
          <a:p>
            <a:r>
              <a:rPr lang="en-US" sz="2000" b="1" dirty="0"/>
              <a:t>Secure Authentication: </a:t>
            </a:r>
            <a:r>
              <a:rPr lang="en-US" sz="2000" dirty="0"/>
              <a:t>Uses JSESSIONID for session-based access with Spring Security.</a:t>
            </a:r>
          </a:p>
          <a:p>
            <a:r>
              <a:rPr lang="en-US" sz="2000" b="1" dirty="0"/>
              <a:t>Glass-morphism UI: </a:t>
            </a:r>
            <a:r>
              <a:rPr lang="en-US" sz="2000" dirty="0"/>
              <a:t>Modern design with #8ab1e8 accents, pulse animations, and responsive layouts.</a:t>
            </a:r>
          </a:p>
          <a:p>
            <a:r>
              <a:rPr lang="en-US" sz="2000" b="1" dirty="0"/>
              <a:t>File Handling: </a:t>
            </a:r>
            <a:r>
              <a:rPr lang="en-US" sz="2000" dirty="0"/>
              <a:t>Supports file uploads (e.g., notes.pdf) stored in E:/Project/uploads/.</a:t>
            </a:r>
          </a:p>
          <a:p>
            <a:endParaRPr lang="en-IN" dirty="0"/>
          </a:p>
        </p:txBody>
      </p:sp>
      <p:pic>
        <p:nvPicPr>
          <p:cNvPr id="6" name="Picture 5">
            <a:extLst>
              <a:ext uri="{FF2B5EF4-FFF2-40B4-BE49-F238E27FC236}">
                <a16:creationId xmlns:a16="http://schemas.microsoft.com/office/drawing/2014/main" id="{2175742C-BE35-ED46-5161-E83FA25A9D2F}"/>
              </a:ext>
            </a:extLst>
          </p:cNvPr>
          <p:cNvPicPr>
            <a:picLocks noChangeAspect="1"/>
          </p:cNvPicPr>
          <p:nvPr/>
        </p:nvPicPr>
        <p:blipFill>
          <a:blip r:embed="rId2"/>
          <a:stretch>
            <a:fillRect/>
          </a:stretch>
        </p:blipFill>
        <p:spPr>
          <a:xfrm>
            <a:off x="7481078" y="1625385"/>
            <a:ext cx="3771122" cy="377112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19154103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3A900-66AE-C500-006B-971FFCB621A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9FD2BA4-37AA-8933-D907-DB0499751AEE}"/>
              </a:ext>
            </a:extLst>
          </p:cNvPr>
          <p:cNvSpPr>
            <a:spLocks noGrp="1"/>
          </p:cNvSpPr>
          <p:nvPr>
            <p:ph type="title"/>
          </p:nvPr>
        </p:nvSpPr>
        <p:spPr>
          <a:xfrm>
            <a:off x="488950" y="745660"/>
            <a:ext cx="11214100" cy="424732"/>
          </a:xfrm>
        </p:spPr>
        <p:txBody>
          <a:bodyPr/>
          <a:lstStyle/>
          <a:p>
            <a:r>
              <a:rPr lang="en-US" sz="2400" dirty="0"/>
              <a:t> Frontend Development:</a:t>
            </a:r>
          </a:p>
        </p:txBody>
      </p:sp>
      <p:sp>
        <p:nvSpPr>
          <p:cNvPr id="10" name="Text Placeholder 9">
            <a:extLst>
              <a:ext uri="{FF2B5EF4-FFF2-40B4-BE49-F238E27FC236}">
                <a16:creationId xmlns:a16="http://schemas.microsoft.com/office/drawing/2014/main" id="{D9F4186A-9729-D4A7-560C-9DFC25B39AEE}"/>
              </a:ext>
            </a:extLst>
          </p:cNvPr>
          <p:cNvSpPr>
            <a:spLocks noGrp="1"/>
          </p:cNvSpPr>
          <p:nvPr>
            <p:ph type="body" sz="quarter" idx="13"/>
          </p:nvPr>
        </p:nvSpPr>
        <p:spPr>
          <a:xfrm>
            <a:off x="376983" y="1293143"/>
            <a:ext cx="6718300" cy="4093243"/>
          </a:xfrm>
        </p:spPr>
        <p:txBody>
          <a:bodyPr/>
          <a:lstStyle/>
          <a:p>
            <a:pPr marL="0" indent="0">
              <a:buNone/>
            </a:pPr>
            <a:endParaRPr lang="en-US" dirty="0"/>
          </a:p>
          <a:p>
            <a:pPr>
              <a:buFont typeface="Arial" panose="020B0604020202020204" pitchFamily="34" charset="0"/>
              <a:buChar char="•"/>
            </a:pPr>
            <a:r>
              <a:rPr lang="en-IN" b="1" dirty="0"/>
              <a:t>Skills Applied</a:t>
            </a:r>
            <a:r>
              <a:rPr lang="en-IN" dirty="0"/>
              <a:t>: Developed React components: App.js (routing), Auth.js (login), Material-Form (forms).</a:t>
            </a:r>
          </a:p>
          <a:p>
            <a:pPr>
              <a:buFont typeface="Arial" panose="020B0604020202020204" pitchFamily="34" charset="0"/>
              <a:buChar char="•"/>
            </a:pPr>
            <a:r>
              <a:rPr lang="en-IN" dirty="0"/>
              <a:t>Designed glass-morphism UI with #8ab1e8 accents, pulse animations, and responsive layouts (768px, 480px media queries).</a:t>
            </a:r>
          </a:p>
          <a:p>
            <a:pPr>
              <a:buFont typeface="Arial" panose="020B0604020202020204" pitchFamily="34" charset="0"/>
              <a:buChar char="•"/>
            </a:pPr>
            <a:r>
              <a:rPr lang="en-IN" dirty="0"/>
              <a:t>Tested and fixed UI bugs for smooth functionality.</a:t>
            </a:r>
          </a:p>
          <a:p>
            <a:r>
              <a:rPr lang="en-US" b="1" dirty="0"/>
              <a:t>Learning</a:t>
            </a:r>
            <a:r>
              <a:rPr lang="en-US" dirty="0"/>
              <a:t>: Gained hands-on UI/UX design and collaboration skills with mentor feedback.</a:t>
            </a:r>
          </a:p>
          <a:p>
            <a:pPr>
              <a:buFont typeface="Arial" panose="020B0604020202020204" pitchFamily="34" charset="0"/>
              <a:buChar char="•"/>
            </a:pPr>
            <a:r>
              <a:rPr lang="en-IN" b="1" dirty="0"/>
              <a:t>Problems Faced</a:t>
            </a:r>
            <a:r>
              <a:rPr lang="en-IN" dirty="0"/>
              <a:t>: </a:t>
            </a:r>
          </a:p>
          <a:p>
            <a:pPr lvl="1"/>
            <a:r>
              <a:rPr lang="en-IN" sz="1600" dirty="0"/>
              <a:t>Responsive design issues: Struggled with form layouts across devices, fixed with media queries (768px, 480px).</a:t>
            </a:r>
          </a:p>
          <a:p>
            <a:pPr lvl="1"/>
            <a:r>
              <a:rPr lang="en-IN" sz="1600" dirty="0"/>
              <a:t>Form submission errors in Material-Form: Data wasn’t sent correctly, resolved by debugging Form-Data handling.</a:t>
            </a:r>
          </a:p>
          <a:p>
            <a:pPr lvl="1"/>
            <a:endParaRPr lang="en-US" sz="1600" dirty="0"/>
          </a:p>
          <a:p>
            <a:pPr marL="0" indent="0">
              <a:buNone/>
            </a:pPr>
            <a:endParaRPr lang="en-US" dirty="0"/>
          </a:p>
          <a:p>
            <a:endParaRPr lang="en-US" dirty="0"/>
          </a:p>
        </p:txBody>
      </p:sp>
      <p:sp>
        <p:nvSpPr>
          <p:cNvPr id="2" name="Slide Number Placeholder 1">
            <a:extLst>
              <a:ext uri="{FF2B5EF4-FFF2-40B4-BE49-F238E27FC236}">
                <a16:creationId xmlns:a16="http://schemas.microsoft.com/office/drawing/2014/main" id="{B4E6ECFB-EFD5-C8AB-5FD6-02D6E36AB8BD}"/>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
        <p:nvSpPr>
          <p:cNvPr id="6" name="Rectangle 4">
            <a:extLst>
              <a:ext uri="{FF2B5EF4-FFF2-40B4-BE49-F238E27FC236}">
                <a16:creationId xmlns:a16="http://schemas.microsoft.com/office/drawing/2014/main" id="{951C4C1D-25FD-1F92-3887-B28BE1E4EE0A}"/>
              </a:ext>
            </a:extLst>
          </p:cNvPr>
          <p:cNvSpPr>
            <a:spLocks noChangeArrowheads="1"/>
          </p:cNvSpPr>
          <p:nvPr/>
        </p:nvSpPr>
        <p:spPr bwMode="auto">
          <a:xfrm>
            <a:off x="0" y="-461665"/>
            <a:ext cx="2648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CFF02546-91EC-3DB0-BA41-83B6A51B73DF}"/>
              </a:ext>
            </a:extLst>
          </p:cNvPr>
          <p:cNvPicPr>
            <a:picLocks noChangeAspect="1"/>
          </p:cNvPicPr>
          <p:nvPr/>
        </p:nvPicPr>
        <p:blipFill>
          <a:blip r:embed="rId2"/>
          <a:stretch>
            <a:fillRect/>
          </a:stretch>
        </p:blipFill>
        <p:spPr>
          <a:xfrm>
            <a:off x="7517364" y="1684162"/>
            <a:ext cx="4469681" cy="28394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45786231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1AF25-ED49-A45B-7376-046344416B9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2C54527-50A1-2583-DABA-54AE8AD05F08}"/>
              </a:ext>
            </a:extLst>
          </p:cNvPr>
          <p:cNvSpPr>
            <a:spLocks noGrp="1"/>
          </p:cNvSpPr>
          <p:nvPr>
            <p:ph type="title"/>
          </p:nvPr>
        </p:nvSpPr>
        <p:spPr>
          <a:xfrm>
            <a:off x="488950" y="745660"/>
            <a:ext cx="11214100" cy="757130"/>
          </a:xfrm>
        </p:spPr>
        <p:txBody>
          <a:bodyPr/>
          <a:lstStyle/>
          <a:p>
            <a:r>
              <a:rPr lang="en-US" sz="2400" dirty="0"/>
              <a:t>Admin Adding Study Material</a:t>
            </a:r>
            <a:br>
              <a:rPr lang="en-US" sz="1400" dirty="0"/>
            </a:br>
            <a:endParaRPr lang="en-US" sz="2400" dirty="0"/>
          </a:p>
        </p:txBody>
      </p:sp>
      <p:sp>
        <p:nvSpPr>
          <p:cNvPr id="10" name="Text Placeholder 9">
            <a:extLst>
              <a:ext uri="{FF2B5EF4-FFF2-40B4-BE49-F238E27FC236}">
                <a16:creationId xmlns:a16="http://schemas.microsoft.com/office/drawing/2014/main" id="{C8F66614-F667-B080-67DD-75FF15F33BA0}"/>
              </a:ext>
            </a:extLst>
          </p:cNvPr>
          <p:cNvSpPr>
            <a:spLocks noGrp="1"/>
          </p:cNvSpPr>
          <p:nvPr>
            <p:ph type="body" sz="quarter" idx="13"/>
          </p:nvPr>
        </p:nvSpPr>
        <p:spPr>
          <a:xfrm>
            <a:off x="488950" y="1824989"/>
            <a:ext cx="6718300" cy="4093243"/>
          </a:xfrm>
        </p:spPr>
        <p:txBody>
          <a:bodyPr/>
          <a:lstStyle/>
          <a:p>
            <a:r>
              <a:rPr lang="en-US" sz="1800" b="1" dirty="0"/>
              <a:t>Use Case</a:t>
            </a:r>
            <a:r>
              <a:rPr lang="en-US" sz="1800" dirty="0"/>
              <a:t>: Admin adds study material via Material-Form, which students can then access.</a:t>
            </a:r>
          </a:p>
          <a:p>
            <a:pPr>
              <a:buFont typeface="Arial" panose="020B0604020202020204" pitchFamily="34" charset="0"/>
              <a:buChar char="•"/>
            </a:pPr>
            <a:r>
              <a:rPr lang="en-IN" sz="1800" b="1" dirty="0"/>
              <a:t>Demo Steps</a:t>
            </a:r>
            <a:r>
              <a:rPr lang="en-IN" sz="1800" dirty="0"/>
              <a:t>: Login as admin (admin@gmail.com, admin) → redirects to /admin.</a:t>
            </a:r>
          </a:p>
          <a:p>
            <a:pPr lvl="1"/>
            <a:r>
              <a:rPr lang="en-IN" sz="1500" dirty="0"/>
              <a:t>Navigate to “Materials” in Admin-Dashboard, click “Add Material.”</a:t>
            </a:r>
          </a:p>
          <a:p>
            <a:pPr lvl="1"/>
            <a:r>
              <a:rPr lang="en-IN" sz="1500" dirty="0"/>
              <a:t>Use Material-Form to add “Java Notes” (Semester 3, notes.pdf).</a:t>
            </a:r>
          </a:p>
          <a:p>
            <a:pPr lvl="1"/>
            <a:r>
              <a:rPr lang="en-IN" sz="1500" dirty="0"/>
              <a:t>Show updated materials table.</a:t>
            </a:r>
          </a:p>
          <a:p>
            <a:pPr lvl="1"/>
            <a:r>
              <a:rPr lang="en-IN" sz="1500" dirty="0"/>
              <a:t>Resize window to demonstrate responsive form layout.</a:t>
            </a:r>
          </a:p>
          <a:p>
            <a:pPr marL="0" indent="0">
              <a:buNone/>
            </a:pPr>
            <a:endParaRPr lang="en-US" dirty="0"/>
          </a:p>
        </p:txBody>
      </p:sp>
      <p:sp>
        <p:nvSpPr>
          <p:cNvPr id="2" name="Slide Number Placeholder 1">
            <a:extLst>
              <a:ext uri="{FF2B5EF4-FFF2-40B4-BE49-F238E27FC236}">
                <a16:creationId xmlns:a16="http://schemas.microsoft.com/office/drawing/2014/main" id="{D95A99A9-4E93-7023-551B-B9F78AD60EFE}"/>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
        <p:nvSpPr>
          <p:cNvPr id="6" name="Rectangle 4">
            <a:extLst>
              <a:ext uri="{FF2B5EF4-FFF2-40B4-BE49-F238E27FC236}">
                <a16:creationId xmlns:a16="http://schemas.microsoft.com/office/drawing/2014/main" id="{DDBE5437-4A6A-C483-C149-8219A4388206}"/>
              </a:ext>
            </a:extLst>
          </p:cNvPr>
          <p:cNvSpPr>
            <a:spLocks noChangeArrowheads="1"/>
          </p:cNvSpPr>
          <p:nvPr/>
        </p:nvSpPr>
        <p:spPr bwMode="auto">
          <a:xfrm>
            <a:off x="0" y="-461665"/>
            <a:ext cx="2648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A47ADE70-2272-EE21-B837-F0C6F9F79351}"/>
              </a:ext>
            </a:extLst>
          </p:cNvPr>
          <p:cNvPicPr>
            <a:picLocks noChangeAspect="1"/>
          </p:cNvPicPr>
          <p:nvPr/>
        </p:nvPicPr>
        <p:blipFill>
          <a:blip r:embed="rId2"/>
          <a:stretch>
            <a:fillRect/>
          </a:stretch>
        </p:blipFill>
        <p:spPr>
          <a:xfrm>
            <a:off x="7019639" y="1750344"/>
            <a:ext cx="4859159" cy="311642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80580116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11C253-592F-DD13-FE70-FDEF3F543BCD}"/>
              </a:ext>
            </a:extLst>
          </p:cNvPr>
          <p:cNvSpPr>
            <a:spLocks noGrp="1"/>
          </p:cNvSpPr>
          <p:nvPr>
            <p:ph type="title"/>
          </p:nvPr>
        </p:nvSpPr>
        <p:spPr>
          <a:xfrm>
            <a:off x="444500" y="542925"/>
            <a:ext cx="11214100" cy="978729"/>
          </a:xfrm>
        </p:spPr>
        <p:txBody>
          <a:bodyPr/>
          <a:lstStyle/>
          <a:p>
            <a:r>
              <a:rPr lang="en-US" sz="3200" dirty="0"/>
              <a:t>Backend Development </a:t>
            </a:r>
            <a:r>
              <a:rPr lang="en-US" dirty="0"/>
              <a:t>:</a:t>
            </a:r>
            <a:br>
              <a:rPr lang="en-US" sz="1800" dirty="0"/>
            </a:br>
            <a:endParaRPr lang="en-IN" dirty="0"/>
          </a:p>
        </p:txBody>
      </p:sp>
      <p:sp>
        <p:nvSpPr>
          <p:cNvPr id="3" name="Slide Number Placeholder 2">
            <a:extLst>
              <a:ext uri="{FF2B5EF4-FFF2-40B4-BE49-F238E27FC236}">
                <a16:creationId xmlns:a16="http://schemas.microsoft.com/office/drawing/2014/main" id="{F806D181-EA78-0101-7402-DD0487732B6A}"/>
              </a:ext>
            </a:extLst>
          </p:cNvPr>
          <p:cNvSpPr>
            <a:spLocks noGrp="1"/>
          </p:cNvSpPr>
          <p:nvPr>
            <p:ph type="sldNum" sz="quarter" idx="12"/>
          </p:nvPr>
        </p:nvSpPr>
        <p:spPr/>
        <p:txBody>
          <a:bodyPr/>
          <a:lstStyle/>
          <a:p>
            <a:fld id="{C263D6C4-4840-40CC-AC84-17E24B3B7BDE}" type="slidenum">
              <a:rPr lang="en-US" noProof="0" smtClean="0"/>
              <a:pPr/>
              <a:t>8</a:t>
            </a:fld>
            <a:endParaRPr lang="en-US" noProof="0" dirty="0"/>
          </a:p>
        </p:txBody>
      </p:sp>
      <p:sp>
        <p:nvSpPr>
          <p:cNvPr id="6" name="Text Placeholder 5">
            <a:extLst>
              <a:ext uri="{FF2B5EF4-FFF2-40B4-BE49-F238E27FC236}">
                <a16:creationId xmlns:a16="http://schemas.microsoft.com/office/drawing/2014/main" id="{B17FF77E-A8BD-B48E-C281-8B83EB141363}"/>
              </a:ext>
            </a:extLst>
          </p:cNvPr>
          <p:cNvSpPr>
            <a:spLocks noGrp="1"/>
          </p:cNvSpPr>
          <p:nvPr>
            <p:ph type="body" sz="quarter" idx="13"/>
          </p:nvPr>
        </p:nvSpPr>
        <p:spPr>
          <a:xfrm>
            <a:off x="444500" y="1963566"/>
            <a:ext cx="6419287" cy="3815627"/>
          </a:xfrm>
        </p:spPr>
        <p:txBody>
          <a:bodyPr/>
          <a:lstStyle/>
          <a:p>
            <a:r>
              <a:rPr lang="en-US" sz="1800" b="1" dirty="0"/>
              <a:t>Role</a:t>
            </a:r>
            <a:r>
              <a:rPr lang="en-US" sz="1800" dirty="0"/>
              <a:t>: Backend developer, integrated frontend with Spring Boot and managed database operations.</a:t>
            </a:r>
          </a:p>
          <a:p>
            <a:pPr>
              <a:buFont typeface="Arial" panose="020B0604020202020204" pitchFamily="34" charset="0"/>
              <a:buChar char="•"/>
            </a:pPr>
            <a:r>
              <a:rPr lang="en-US" sz="1800" b="1" dirty="0"/>
              <a:t>Skills Applied</a:t>
            </a:r>
            <a:r>
              <a:rPr lang="en-US" dirty="0"/>
              <a:t>: </a:t>
            </a:r>
          </a:p>
          <a:p>
            <a:pPr lvl="1"/>
            <a:r>
              <a:rPr lang="en-US" sz="1600" dirty="0"/>
              <a:t>Used axios.js with withCredentials: true for secure API calls with JSESSIONID.</a:t>
            </a:r>
          </a:p>
          <a:p>
            <a:pPr lvl="1"/>
            <a:r>
              <a:rPr lang="en-US" sz="1600" dirty="0"/>
              <a:t>Implemented file uploads in MaterialController using MultipartFile, storing files in E:/Project/uploads/.</a:t>
            </a:r>
          </a:p>
          <a:p>
            <a:pPr lvl="1"/>
            <a:r>
              <a:rPr lang="en-US" sz="1600" dirty="0"/>
              <a:t>Fixed CORS issues with @CrossOrigin and 401 errors with role checks</a:t>
            </a:r>
            <a:r>
              <a:rPr lang="en-US" dirty="0"/>
              <a:t>.</a:t>
            </a:r>
          </a:p>
          <a:p>
            <a:r>
              <a:rPr lang="en-US" sz="1800" b="1" dirty="0"/>
              <a:t>Learning</a:t>
            </a:r>
            <a:r>
              <a:rPr lang="en-US" sz="1800" dirty="0"/>
              <a:t>: Developed backend integration, security, and debugging skills with mentorship</a:t>
            </a:r>
            <a:r>
              <a:rPr lang="en-US" dirty="0"/>
              <a:t>.</a:t>
            </a:r>
          </a:p>
          <a:p>
            <a:endParaRPr lang="en-IN" dirty="0"/>
          </a:p>
        </p:txBody>
      </p:sp>
      <p:pic>
        <p:nvPicPr>
          <p:cNvPr id="12" name="Picture 11">
            <a:extLst>
              <a:ext uri="{FF2B5EF4-FFF2-40B4-BE49-F238E27FC236}">
                <a16:creationId xmlns:a16="http://schemas.microsoft.com/office/drawing/2014/main" id="{E681D2AB-250F-D34F-F752-1189C1829924}"/>
              </a:ext>
            </a:extLst>
          </p:cNvPr>
          <p:cNvPicPr>
            <a:picLocks noChangeAspect="1"/>
          </p:cNvPicPr>
          <p:nvPr/>
        </p:nvPicPr>
        <p:blipFill>
          <a:blip r:embed="rId2"/>
          <a:stretch>
            <a:fillRect/>
          </a:stretch>
        </p:blipFill>
        <p:spPr>
          <a:xfrm>
            <a:off x="7931873" y="1839087"/>
            <a:ext cx="3815627" cy="38156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260315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CF248-AF0C-A623-79DF-2E59D919B76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9AF468D-5FE7-5E27-8EEA-F977275AC074}"/>
              </a:ext>
            </a:extLst>
          </p:cNvPr>
          <p:cNvSpPr>
            <a:spLocks noGrp="1"/>
          </p:cNvSpPr>
          <p:nvPr>
            <p:ph type="title"/>
          </p:nvPr>
        </p:nvSpPr>
        <p:spPr>
          <a:xfrm>
            <a:off x="444500" y="508727"/>
            <a:ext cx="11214100" cy="757130"/>
          </a:xfrm>
        </p:spPr>
        <p:txBody>
          <a:bodyPr/>
          <a:lstStyle/>
          <a:p>
            <a:r>
              <a:rPr lang="en-US" sz="2400" dirty="0"/>
              <a:t>Use Case: Student Accessing Materials</a:t>
            </a:r>
            <a:br>
              <a:rPr lang="en-US" sz="1400" dirty="0"/>
            </a:br>
            <a:endParaRPr lang="en-US" sz="2400" dirty="0"/>
          </a:p>
        </p:txBody>
      </p:sp>
      <p:sp>
        <p:nvSpPr>
          <p:cNvPr id="10" name="Text Placeholder 9">
            <a:extLst>
              <a:ext uri="{FF2B5EF4-FFF2-40B4-BE49-F238E27FC236}">
                <a16:creationId xmlns:a16="http://schemas.microsoft.com/office/drawing/2014/main" id="{79F4ED17-21AB-8115-DA26-CFC378AC3C1F}"/>
              </a:ext>
            </a:extLst>
          </p:cNvPr>
          <p:cNvSpPr>
            <a:spLocks noGrp="1"/>
          </p:cNvSpPr>
          <p:nvPr>
            <p:ph type="body" sz="quarter" idx="13"/>
          </p:nvPr>
        </p:nvSpPr>
        <p:spPr>
          <a:xfrm>
            <a:off x="444500" y="1265857"/>
            <a:ext cx="6718300" cy="4093243"/>
          </a:xfrm>
        </p:spPr>
        <p:txBody>
          <a:bodyPr/>
          <a:lstStyle/>
          <a:p>
            <a:r>
              <a:rPr lang="en-US" sz="2000" b="1" dirty="0"/>
              <a:t>Use Case</a:t>
            </a:r>
            <a:r>
              <a:rPr lang="en-US" sz="2000" dirty="0"/>
              <a:t>: Student accesses material in Student-Dashboard, showing end-to-end functionality.</a:t>
            </a:r>
          </a:p>
          <a:p>
            <a:pPr>
              <a:buFont typeface="Arial" panose="020B0604020202020204" pitchFamily="34" charset="0"/>
              <a:buChar char="•"/>
            </a:pPr>
            <a:r>
              <a:rPr lang="en-US" sz="2000" b="1" dirty="0"/>
              <a:t>Demo Steps</a:t>
            </a:r>
            <a:r>
              <a:rPr lang="en-US" sz="2000" dirty="0"/>
              <a:t>: </a:t>
            </a:r>
          </a:p>
          <a:p>
            <a:pPr lvl="1"/>
            <a:r>
              <a:rPr lang="en-US" sz="1800" dirty="0"/>
              <a:t>Logout from admin, login as student (student@gmail.com, student) → redirects to /student.</a:t>
            </a:r>
          </a:p>
          <a:p>
            <a:pPr lvl="1"/>
            <a:r>
              <a:rPr lang="en-US" sz="1800" dirty="0"/>
              <a:t>In Student-Dashboard, select Semester 3, verify “Java Notes” is listed.</a:t>
            </a:r>
          </a:p>
          <a:p>
            <a:pPr lvl="1"/>
            <a:r>
              <a:rPr lang="en-US" sz="1800" dirty="0"/>
              <a:t>Open material in a modal to show file viewing.</a:t>
            </a:r>
          </a:p>
          <a:p>
            <a:pPr lvl="1"/>
            <a:r>
              <a:rPr lang="en-US" sz="1800" dirty="0"/>
              <a:t>Logout to show redirect to /auth.</a:t>
            </a:r>
          </a:p>
          <a:p>
            <a:pPr>
              <a:buFont typeface="Arial" panose="020B0604020202020204" pitchFamily="34" charset="0"/>
              <a:buChar char="•"/>
            </a:pPr>
            <a:r>
              <a:rPr lang="en-US" sz="1800" b="1" dirty="0"/>
              <a:t>Problems Faced</a:t>
            </a:r>
            <a:r>
              <a:rPr lang="en-US" sz="1800" dirty="0"/>
              <a:t>: </a:t>
            </a:r>
          </a:p>
          <a:p>
            <a:pPr lvl="1"/>
            <a:r>
              <a:rPr lang="en-US" sz="1600" dirty="0"/>
              <a:t>CORS issues : Frontend-backend communication failed, fixed with @CrossOrigin.</a:t>
            </a:r>
          </a:p>
          <a:p>
            <a:pPr lvl="1"/>
            <a:r>
              <a:rPr lang="en-US" sz="1600" dirty="0"/>
              <a:t>401 errors : Authentication issues due to role mismatches, resolved by validating roles in Spring Security.</a:t>
            </a:r>
          </a:p>
          <a:p>
            <a:pPr lvl="1"/>
            <a:endParaRPr lang="en-US" dirty="0"/>
          </a:p>
          <a:p>
            <a:pPr marL="0" indent="0">
              <a:buNone/>
            </a:pPr>
            <a:endParaRPr lang="en-US" dirty="0"/>
          </a:p>
        </p:txBody>
      </p:sp>
      <p:sp>
        <p:nvSpPr>
          <p:cNvPr id="6" name="Rectangle 4">
            <a:extLst>
              <a:ext uri="{FF2B5EF4-FFF2-40B4-BE49-F238E27FC236}">
                <a16:creationId xmlns:a16="http://schemas.microsoft.com/office/drawing/2014/main" id="{2C3D86D5-0203-F05B-314A-4E585EF68406}"/>
              </a:ext>
            </a:extLst>
          </p:cNvPr>
          <p:cNvSpPr>
            <a:spLocks noChangeArrowheads="1"/>
          </p:cNvSpPr>
          <p:nvPr/>
        </p:nvSpPr>
        <p:spPr bwMode="auto">
          <a:xfrm>
            <a:off x="0" y="-461665"/>
            <a:ext cx="2648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B8823CB2-010C-DA25-5315-E92A96782CF9}"/>
              </a:ext>
            </a:extLst>
          </p:cNvPr>
          <p:cNvPicPr>
            <a:picLocks noChangeAspect="1"/>
          </p:cNvPicPr>
          <p:nvPr/>
        </p:nvPicPr>
        <p:blipFill>
          <a:blip r:embed="rId2"/>
          <a:stretch>
            <a:fillRect/>
          </a:stretch>
        </p:blipFill>
        <p:spPr>
          <a:xfrm>
            <a:off x="7249160" y="1849120"/>
            <a:ext cx="4206240" cy="26806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836206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41EC3-3C14-5615-4439-C3BA7E5FC2BA}"/>
              </a:ext>
            </a:extLst>
          </p:cNvPr>
          <p:cNvSpPr>
            <a:spLocks noGrp="1"/>
          </p:cNvSpPr>
          <p:nvPr>
            <p:ph type="title"/>
          </p:nvPr>
        </p:nvSpPr>
        <p:spPr>
          <a:xfrm>
            <a:off x="332740" y="2097405"/>
            <a:ext cx="11214100" cy="535531"/>
          </a:xfrm>
        </p:spPr>
        <p:txBody>
          <a:bodyPr/>
          <a:lstStyle/>
          <a:p>
            <a:r>
              <a:rPr lang="en-US" dirty="0"/>
              <a:t>“Thank you for your time and attention!”</a:t>
            </a:r>
            <a:endParaRPr lang="en-IN" dirty="0"/>
          </a:p>
        </p:txBody>
      </p:sp>
      <p:sp>
        <p:nvSpPr>
          <p:cNvPr id="4" name="Text Placeholder 3">
            <a:extLst>
              <a:ext uri="{FF2B5EF4-FFF2-40B4-BE49-F238E27FC236}">
                <a16:creationId xmlns:a16="http://schemas.microsoft.com/office/drawing/2014/main" id="{6297DF42-630C-6C07-5D93-12DED26B00EB}"/>
              </a:ext>
            </a:extLst>
          </p:cNvPr>
          <p:cNvSpPr>
            <a:spLocks noGrp="1"/>
          </p:cNvSpPr>
          <p:nvPr>
            <p:ph type="body" sz="quarter" idx="13"/>
          </p:nvPr>
        </p:nvSpPr>
        <p:spPr>
          <a:xfrm>
            <a:off x="647700" y="2769326"/>
            <a:ext cx="6718300" cy="1319348"/>
          </a:xfrm>
        </p:spPr>
        <p:txBody>
          <a:bodyPr/>
          <a:lstStyle/>
          <a:p>
            <a:pPr marL="0" indent="0">
              <a:buNone/>
            </a:pPr>
            <a:r>
              <a:rPr lang="en-US" dirty="0"/>
              <a:t>Proud to share our journey with the CSE Department Portal.</a:t>
            </a:r>
            <a:endParaRPr lang="en-IN" dirty="0"/>
          </a:p>
        </p:txBody>
      </p:sp>
      <p:sp>
        <p:nvSpPr>
          <p:cNvPr id="6" name="TextBox 5">
            <a:extLst>
              <a:ext uri="{FF2B5EF4-FFF2-40B4-BE49-F238E27FC236}">
                <a16:creationId xmlns:a16="http://schemas.microsoft.com/office/drawing/2014/main" id="{8CDE52AA-1DCA-72E7-4F99-B9F57B6A41C8}"/>
              </a:ext>
            </a:extLst>
          </p:cNvPr>
          <p:cNvSpPr txBox="1"/>
          <p:nvPr/>
        </p:nvSpPr>
        <p:spPr>
          <a:xfrm>
            <a:off x="10095308" y="5149342"/>
            <a:ext cx="2682240" cy="1815882"/>
          </a:xfrm>
          <a:prstGeom prst="rect">
            <a:avLst/>
          </a:prstGeom>
          <a:noFill/>
        </p:spPr>
        <p:txBody>
          <a:bodyPr wrap="square">
            <a:spAutoFit/>
          </a:bodyPr>
          <a:lstStyle/>
          <a:p>
            <a:r>
              <a:rPr lang="en-IN" sz="1600" dirty="0">
                <a:solidFill>
                  <a:schemeClr val="bg1"/>
                </a:solidFill>
              </a:rPr>
              <a:t>Presented By: </a:t>
            </a:r>
          </a:p>
          <a:p>
            <a:r>
              <a:rPr lang="en-US" sz="1600" dirty="0">
                <a:solidFill>
                  <a:schemeClr val="bg1"/>
                </a:solidFill>
              </a:rPr>
              <a:t>B Ruchitha</a:t>
            </a:r>
          </a:p>
          <a:p>
            <a:r>
              <a:rPr lang="en-US" sz="1600" dirty="0">
                <a:solidFill>
                  <a:schemeClr val="bg1"/>
                </a:solidFill>
              </a:rPr>
              <a:t>Bhoomika</a:t>
            </a:r>
          </a:p>
          <a:p>
            <a:r>
              <a:rPr lang="en-US" sz="1600" dirty="0">
                <a:solidFill>
                  <a:schemeClr val="bg1"/>
                </a:solidFill>
              </a:rPr>
              <a:t>Bharat Hegde</a:t>
            </a:r>
          </a:p>
          <a:p>
            <a:r>
              <a:rPr lang="en-US" sz="1600" dirty="0">
                <a:solidFill>
                  <a:schemeClr val="bg1"/>
                </a:solidFill>
              </a:rPr>
              <a:t>Bharat M G</a:t>
            </a:r>
          </a:p>
          <a:p>
            <a:endParaRPr lang="en-IN" sz="1600" dirty="0">
              <a:solidFill>
                <a:schemeClr val="bg1"/>
              </a:solidFill>
            </a:endParaRPr>
          </a:p>
          <a:p>
            <a:endParaRPr lang="en-IN" sz="1600" dirty="0">
              <a:solidFill>
                <a:schemeClr val="bg1"/>
              </a:solidFill>
            </a:endParaRPr>
          </a:p>
        </p:txBody>
      </p:sp>
    </p:spTree>
    <p:extLst>
      <p:ext uri="{BB962C8B-B14F-4D97-AF65-F5344CB8AC3E}">
        <p14:creationId xmlns:p14="http://schemas.microsoft.com/office/powerpoint/2010/main" val="40438897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639</TotalTime>
  <Words>753</Words>
  <Application>Microsoft Office PowerPoint</Application>
  <PresentationFormat>Widescreen</PresentationFormat>
  <Paragraphs>83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Trade Gothic LT Pro</vt:lpstr>
      <vt:lpstr>Trebuchet MS</vt:lpstr>
      <vt:lpstr>Office Theme</vt:lpstr>
      <vt:lpstr>"Building the CSE Department Portal: Our Full-Stack Project"</vt:lpstr>
      <vt:lpstr>CSE WEB PORTAL </vt:lpstr>
      <vt:lpstr>Technologies Used:  </vt:lpstr>
      <vt:lpstr>System Architecture: </vt:lpstr>
      <vt:lpstr>Core Features: </vt:lpstr>
      <vt:lpstr> Frontend Development:</vt:lpstr>
      <vt:lpstr>Admin Adding Study Material </vt:lpstr>
      <vt:lpstr>Backend Development : </vt:lpstr>
      <vt:lpstr>Use Case: Student Accessing Materials </vt:lpstr>
      <vt:lpstr>“Thank you for your time and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Ruchitha B</dc:creator>
  <cp:lastModifiedBy>RUCHITHA B</cp:lastModifiedBy>
  <cp:revision>6</cp:revision>
  <dcterms:created xsi:type="dcterms:W3CDTF">2025-04-23T14:13:46Z</dcterms:created>
  <dcterms:modified xsi:type="dcterms:W3CDTF">2025-11-26T05:07:39Z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