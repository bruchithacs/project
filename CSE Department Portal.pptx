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56" r:id="rId5"/>
    <p:sldId id="258" r:id="rId6"/>
    <p:sldId id="290" r:id="rId7"/>
    <p:sldId id="291" r:id="rId8"/>
    <p:sldId id="292" r:id="rId9"/>
    <p:sldId id="293" r:id="rId10"/>
    <p:sldId id="286" r:id="rId11"/>
    <p:sldId id="287" r:id="rId12"/>
    <p:sldId id="288" r:id="rId13"/>
    <p:sldId id="289" r:id="rId14"/>
    <p:sldId id="29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75AC"/>
    <a:srgbClr val="103350"/>
    <a:srgbClr val="0C4360"/>
    <a:srgbClr val="1B6872"/>
    <a:srgbClr val="63B7C6"/>
    <a:srgbClr val="002136"/>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974" y="43"/>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4/23/2025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4/23/2025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205903" y="1666755"/>
            <a:ext cx="9125712" cy="2123028"/>
          </a:xfrm>
        </p:spPr>
        <p:txBody>
          <a:bodyPr/>
          <a:lstStyle/>
          <a:p>
            <a:r>
              <a:rPr lang="en-US" sz="4000" dirty="0"/>
              <a:t>"Building the CSE Department Portal: My Full-Stack Internship Journey at </a:t>
            </a:r>
            <a:r>
              <a:rPr lang="en-US" sz="4000" dirty="0" err="1"/>
              <a:t>Abhivriddhi</a:t>
            </a:r>
            <a:r>
              <a:rPr lang="en-US" sz="4000" dirty="0"/>
              <a:t> Infotech "</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8388998" y="5857240"/>
            <a:ext cx="4034424" cy="868680"/>
          </a:xfrm>
        </p:spPr>
        <p:txBody>
          <a:bodyPr/>
          <a:lstStyle/>
          <a:p>
            <a:pPr marL="0" indent="0">
              <a:buNone/>
            </a:pPr>
            <a:r>
              <a:rPr lang="en-US" dirty="0"/>
              <a:t>Presented by: B Ruchitha</a:t>
            </a:r>
          </a:p>
          <a:p>
            <a:pPr marL="0" indent="0">
              <a:buNone/>
            </a:pPr>
            <a:r>
              <a:rPr lang="en-US" dirty="0"/>
              <a:t>Date: 24/4/25</a:t>
            </a:r>
          </a:p>
        </p:txBody>
      </p:sp>
    </p:spTree>
    <p:extLst>
      <p:ext uri="{BB962C8B-B14F-4D97-AF65-F5344CB8AC3E}">
        <p14:creationId xmlns:p14="http://schemas.microsoft.com/office/powerpoint/2010/main" val="39469345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advTm="659">
        <p15:prstTrans prst="curtains"/>
      </p:transition>
    </mc:Choice>
    <mc:Fallback xmlns="">
      <p:transition spd="slow" advTm="659">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542925"/>
            <a:ext cx="11214100" cy="757130"/>
          </a:xfrm>
        </p:spPr>
        <p:txBody>
          <a:bodyPr/>
          <a:lstStyle/>
          <a:p>
            <a:r>
              <a:rPr lang="en-US" sz="2400" dirty="0"/>
              <a:t>CSE Department Portal: Full Stack Internship </a:t>
            </a:r>
            <a:br>
              <a:rPr lang="en-US" sz="2400" dirty="0"/>
            </a:br>
            <a:r>
              <a:rPr lang="en-US" sz="2400" dirty="0"/>
              <a:t>at </a:t>
            </a:r>
            <a:r>
              <a:rPr lang="en-US" sz="2400" dirty="0" err="1"/>
              <a:t>Abhivriddhi</a:t>
            </a:r>
            <a:r>
              <a:rPr lang="en-US" sz="2400" dirty="0"/>
              <a:t> </a:t>
            </a:r>
            <a:r>
              <a:rPr lang="en-US" sz="2400" dirty="0" err="1"/>
              <a:t>Edutech</a:t>
            </a:r>
            <a:r>
              <a:rPr lang="en-US" sz="2400" dirty="0"/>
              <a:t>  </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r>
              <a:rPr lang="en-US" sz="1800" b="1" dirty="0"/>
              <a:t>Overview:</a:t>
            </a:r>
            <a:r>
              <a:rPr lang="en-US" sz="1800" dirty="0"/>
              <a:t>  Interned at </a:t>
            </a:r>
            <a:r>
              <a:rPr lang="en-US" sz="1800" dirty="0" err="1"/>
              <a:t>Abhivriddhi</a:t>
            </a:r>
            <a:r>
              <a:rPr lang="en-US" sz="1800" dirty="0"/>
              <a:t> </a:t>
            </a:r>
            <a:r>
              <a:rPr lang="en-US" sz="1800" dirty="0" err="1"/>
              <a:t>Edutech</a:t>
            </a:r>
            <a:r>
              <a:rPr lang="en-US" sz="1800" dirty="0"/>
              <a:t>, Ballari, Karnataka, from Dec 18, 2024, to Apr 12, 2025. Developed the CSE Department Portal for students to access academic resources and admins to manage them securely.</a:t>
            </a:r>
          </a:p>
          <a:p>
            <a:pPr>
              <a:buFont typeface="Arial" panose="020B0604020202020204" pitchFamily="34" charset="0"/>
              <a:buChar char="•"/>
            </a:pPr>
            <a:r>
              <a:rPr lang="en-US" sz="1800" b="1" dirty="0"/>
              <a:t>Organization Details: </a:t>
            </a:r>
          </a:p>
          <a:p>
            <a:pPr>
              <a:buFont typeface="Arial" panose="020B0604020202020204" pitchFamily="34" charset="0"/>
              <a:buChar char="•"/>
            </a:pPr>
            <a:r>
              <a:rPr lang="en-US" sz="1800" b="1" dirty="0"/>
              <a:t>Mission:</a:t>
            </a:r>
            <a:r>
              <a:rPr lang="en-US" sz="1800" dirty="0"/>
              <a:t> Providing efficient, long-term software solutions to enhance business performance.</a:t>
            </a:r>
          </a:p>
          <a:p>
            <a:pPr>
              <a:buFont typeface="Arial" panose="020B0604020202020204" pitchFamily="34" charset="0"/>
              <a:buChar char="•"/>
            </a:pPr>
            <a:r>
              <a:rPr lang="en-US" sz="1800" b="1" dirty="0"/>
              <a:t>Vision: </a:t>
            </a:r>
            <a:r>
              <a:rPr lang="en-US" sz="1800" dirty="0"/>
              <a:t>To be a prime name in software development, promoting business growth through modern technology.</a:t>
            </a:r>
          </a:p>
          <a:p>
            <a:pPr>
              <a:buFont typeface="Arial" panose="020B0604020202020204" pitchFamily="34" charset="0"/>
              <a:buChar char="•"/>
            </a:pPr>
            <a:r>
              <a:rPr lang="en-US" sz="1800" b="1" dirty="0"/>
              <a:t>Services: </a:t>
            </a:r>
            <a:r>
              <a:rPr lang="en-US" sz="1800" dirty="0"/>
              <a:t>Website development, software training, digital marketing, internship programs.</a:t>
            </a:r>
          </a:p>
          <a:p>
            <a:pPr>
              <a:buFont typeface="Arial" panose="020B0604020202020204" pitchFamily="34" charset="0"/>
              <a:buChar char="•"/>
            </a:pPr>
            <a:r>
              <a:rPr lang="en-US" sz="1800" b="1" dirty="0"/>
              <a:t>Structure: </a:t>
            </a:r>
            <a:r>
              <a:rPr lang="en-US" sz="1800" dirty="0"/>
              <a:t>Development and training teams, with mentors like G. Abhilash Naidu guiding interns.</a:t>
            </a:r>
          </a:p>
          <a:p>
            <a:r>
              <a:rPr lang="en-US" sz="1800" b="1" dirty="0"/>
              <a:t>Role:</a:t>
            </a:r>
            <a:r>
              <a:rPr lang="en-US" sz="1800" dirty="0"/>
              <a:t> Full-stack intern, built React frontend and integrated with Spring Boot backend.</a:t>
            </a:r>
          </a:p>
          <a:p>
            <a:pPr marL="0" indent="0">
              <a:buNone/>
            </a:pPr>
            <a:endParaRPr lang="en-US" dirty="0"/>
          </a:p>
          <a:p>
            <a:endParaRPr lang="en-US"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6" name="Rectangle 4">
            <a:extLst>
              <a:ext uri="{FF2B5EF4-FFF2-40B4-BE49-F238E27FC236}">
                <a16:creationId xmlns:a16="http://schemas.microsoft.com/office/drawing/2014/main" id="{7F7913FE-EC7A-4D9C-55DD-4E7103A64095}"/>
              </a:ext>
            </a:extLst>
          </p:cNvPr>
          <p:cNvSpPr>
            <a:spLocks noChangeArrowheads="1"/>
          </p:cNvSpPr>
          <p:nvPr/>
        </p:nvSpPr>
        <p:spPr bwMode="auto">
          <a:xfrm>
            <a:off x="0" y="-461665"/>
            <a:ext cx="2648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FB066C57-6982-66AE-5FC6-4A8BAF81422A}"/>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1200"/>
                    </a14:imgEffect>
                    <a14:imgEffect>
                      <a14:saturation sat="226000"/>
                    </a14:imgEffect>
                  </a14:imgLayer>
                </a14:imgProps>
              </a:ext>
            </a:extLst>
          </a:blip>
          <a:stretch>
            <a:fillRect/>
          </a:stretch>
        </p:blipFill>
        <p:spPr>
          <a:xfrm>
            <a:off x="7696360" y="1625385"/>
            <a:ext cx="4051140" cy="37491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style>
          <a:lnRef idx="0">
            <a:scrgbClr r="0" g="0" b="0"/>
          </a:lnRef>
          <a:fillRef idx="0">
            <a:scrgbClr r="0" g="0" b="0"/>
          </a:fillRef>
          <a:effectRef idx="0">
            <a:scrgbClr r="0" g="0" b="0"/>
          </a:effectRef>
          <a:fontRef idx="minor">
            <a:schemeClr val="accent2"/>
          </a:fontRef>
        </p:style>
      </p:pic>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043D5-EADD-CBA6-91A1-0BF1BA991355}"/>
              </a:ext>
            </a:extLst>
          </p:cNvPr>
          <p:cNvSpPr>
            <a:spLocks noGrp="1"/>
          </p:cNvSpPr>
          <p:nvPr>
            <p:ph type="title"/>
          </p:nvPr>
        </p:nvSpPr>
        <p:spPr>
          <a:xfrm>
            <a:off x="488950" y="785993"/>
            <a:ext cx="11214100" cy="535531"/>
          </a:xfrm>
        </p:spPr>
        <p:txBody>
          <a:bodyPr/>
          <a:lstStyle/>
          <a:p>
            <a:r>
              <a:rPr lang="en-IN" dirty="0"/>
              <a:t>CSE WEB PORTAL </a:t>
            </a:r>
          </a:p>
        </p:txBody>
      </p:sp>
      <p:sp>
        <p:nvSpPr>
          <p:cNvPr id="3" name="Slide Number Placeholder 2">
            <a:extLst>
              <a:ext uri="{FF2B5EF4-FFF2-40B4-BE49-F238E27FC236}">
                <a16:creationId xmlns:a16="http://schemas.microsoft.com/office/drawing/2014/main" id="{41C66397-2DCB-02FB-8859-50F666B92E0E}"/>
              </a:ext>
            </a:extLst>
          </p:cNvPr>
          <p:cNvSpPr>
            <a:spLocks noGrp="1"/>
          </p:cNvSpPr>
          <p:nvPr>
            <p:ph type="sldNum" sz="quarter" idx="12"/>
          </p:nvPr>
        </p:nvSpPr>
        <p:spPr/>
        <p:txBody>
          <a:bodyPr/>
          <a:lstStyle/>
          <a:p>
            <a:fld id="{C263D6C4-4840-40CC-AC84-17E24B3B7BDE}" type="slidenum">
              <a:rPr lang="en-US" noProof="0" smtClean="0"/>
              <a:pPr/>
              <a:t>3</a:t>
            </a:fld>
            <a:endParaRPr lang="en-US" noProof="0" dirty="0"/>
          </a:p>
        </p:txBody>
      </p:sp>
      <p:sp>
        <p:nvSpPr>
          <p:cNvPr id="4" name="Text Placeholder 3">
            <a:extLst>
              <a:ext uri="{FF2B5EF4-FFF2-40B4-BE49-F238E27FC236}">
                <a16:creationId xmlns:a16="http://schemas.microsoft.com/office/drawing/2014/main" id="{895FCDA5-A9D6-6E8E-9E7D-A1E4F6B8D098}"/>
              </a:ext>
            </a:extLst>
          </p:cNvPr>
          <p:cNvSpPr>
            <a:spLocks noGrp="1"/>
          </p:cNvSpPr>
          <p:nvPr>
            <p:ph type="body" sz="quarter" idx="13"/>
          </p:nvPr>
        </p:nvSpPr>
        <p:spPr>
          <a:xfrm>
            <a:off x="444500" y="2065284"/>
            <a:ext cx="6718300" cy="4093243"/>
          </a:xfrm>
        </p:spPr>
        <p:txBody>
          <a:bodyPr/>
          <a:lstStyle/>
          <a:p>
            <a:pPr marL="0" indent="0">
              <a:buNone/>
            </a:pPr>
            <a:r>
              <a:rPr lang="en-US" sz="2000" b="1" dirty="0"/>
              <a:t>Introduction: </a:t>
            </a:r>
          </a:p>
          <a:p>
            <a:pPr marL="0" indent="0">
              <a:buNone/>
            </a:pPr>
            <a:r>
              <a:rPr lang="en-US" sz="1800" dirty="0"/>
              <a:t>The CSE Department Portal is a web application developed for the Computer Science and Engineering department. It enables students to access academic resources like study materials, syllabi, and announcements, while admins can manage these resources securely with full CRUD operations. The project focuses on a user-friendly interface with </a:t>
            </a:r>
            <a:r>
              <a:rPr lang="en-US" sz="1800" dirty="0" err="1"/>
              <a:t>glassmorphism</a:t>
            </a:r>
            <a:r>
              <a:rPr lang="en-US" sz="1800" dirty="0"/>
              <a:t> design and secure backend integration.</a:t>
            </a:r>
          </a:p>
          <a:p>
            <a:endParaRPr lang="en-IN" dirty="0"/>
          </a:p>
        </p:txBody>
      </p:sp>
      <p:pic>
        <p:nvPicPr>
          <p:cNvPr id="6" name="Picture 5">
            <a:extLst>
              <a:ext uri="{FF2B5EF4-FFF2-40B4-BE49-F238E27FC236}">
                <a16:creationId xmlns:a16="http://schemas.microsoft.com/office/drawing/2014/main" id="{BEF75522-DD30-1825-1BDC-28F32D550B10}"/>
              </a:ext>
            </a:extLst>
          </p:cNvPr>
          <p:cNvPicPr>
            <a:picLocks noChangeAspect="1"/>
          </p:cNvPicPr>
          <p:nvPr/>
        </p:nvPicPr>
        <p:blipFill>
          <a:blip r:embed="rId2"/>
          <a:stretch>
            <a:fillRect/>
          </a:stretch>
        </p:blipFill>
        <p:spPr>
          <a:xfrm>
            <a:off x="7326775" y="2229340"/>
            <a:ext cx="4677217" cy="270834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87196667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B99E0-6562-F266-E116-A9E84A8CD161}"/>
              </a:ext>
            </a:extLst>
          </p:cNvPr>
          <p:cNvSpPr>
            <a:spLocks noGrp="1"/>
          </p:cNvSpPr>
          <p:nvPr>
            <p:ph type="title"/>
          </p:nvPr>
        </p:nvSpPr>
        <p:spPr>
          <a:xfrm>
            <a:off x="652844" y="878591"/>
            <a:ext cx="11214100" cy="978729"/>
          </a:xfrm>
        </p:spPr>
        <p:txBody>
          <a:bodyPr/>
          <a:lstStyle/>
          <a:p>
            <a:r>
              <a:rPr lang="en-IN" b="1" dirty="0"/>
              <a:t>Technologies Used</a:t>
            </a:r>
            <a:r>
              <a:rPr lang="en-IN" dirty="0"/>
              <a:t>: </a:t>
            </a:r>
            <a:br>
              <a:rPr lang="en-IN" dirty="0"/>
            </a:br>
            <a:endParaRPr lang="en-IN" dirty="0"/>
          </a:p>
        </p:txBody>
      </p:sp>
      <p:sp>
        <p:nvSpPr>
          <p:cNvPr id="3" name="Slide Number Placeholder 2">
            <a:extLst>
              <a:ext uri="{FF2B5EF4-FFF2-40B4-BE49-F238E27FC236}">
                <a16:creationId xmlns:a16="http://schemas.microsoft.com/office/drawing/2014/main" id="{6F5629B1-AAB0-E12B-5F9F-18542EC710DC}"/>
              </a:ext>
            </a:extLst>
          </p:cNvPr>
          <p:cNvSpPr>
            <a:spLocks noGrp="1"/>
          </p:cNvSpPr>
          <p:nvPr>
            <p:ph type="sldNum" sz="quarter" idx="12"/>
          </p:nvPr>
        </p:nvSpPr>
        <p:spPr/>
        <p:txBody>
          <a:bodyPr/>
          <a:lstStyle/>
          <a:p>
            <a:fld id="{C263D6C4-4840-40CC-AC84-17E24B3B7BDE}" type="slidenum">
              <a:rPr lang="en-US" noProof="0" smtClean="0"/>
              <a:pPr/>
              <a:t>4</a:t>
            </a:fld>
            <a:endParaRPr lang="en-US" noProof="0" dirty="0"/>
          </a:p>
        </p:txBody>
      </p:sp>
      <p:sp>
        <p:nvSpPr>
          <p:cNvPr id="4" name="Text Placeholder 3">
            <a:extLst>
              <a:ext uri="{FF2B5EF4-FFF2-40B4-BE49-F238E27FC236}">
                <a16:creationId xmlns:a16="http://schemas.microsoft.com/office/drawing/2014/main" id="{8273E447-AF4D-399B-A0EC-045DBCF6A25E}"/>
              </a:ext>
            </a:extLst>
          </p:cNvPr>
          <p:cNvSpPr>
            <a:spLocks noGrp="1"/>
          </p:cNvSpPr>
          <p:nvPr>
            <p:ph type="body" sz="quarter" idx="13"/>
          </p:nvPr>
        </p:nvSpPr>
        <p:spPr/>
        <p:txBody>
          <a:bodyPr/>
          <a:lstStyle/>
          <a:p>
            <a:pPr marL="0" indent="0">
              <a:buNone/>
            </a:pPr>
            <a:endParaRPr lang="en-IN" dirty="0"/>
          </a:p>
          <a:p>
            <a:pPr>
              <a:buFont typeface="Arial" panose="020B0604020202020204" pitchFamily="34" charset="0"/>
              <a:buChar char="•"/>
            </a:pPr>
            <a:r>
              <a:rPr lang="en-IN" sz="2000" b="1" dirty="0"/>
              <a:t>Frontend:</a:t>
            </a:r>
            <a:r>
              <a:rPr lang="en-IN" sz="2000" dirty="0"/>
              <a:t> React.js, HTML, CSS (</a:t>
            </a:r>
            <a:r>
              <a:rPr lang="en-IN" sz="2000" dirty="0" err="1"/>
              <a:t>glassmorphism</a:t>
            </a:r>
            <a:r>
              <a:rPr lang="en-IN" sz="2000" dirty="0"/>
              <a:t> design and  responsive layouts) and JavaScript </a:t>
            </a:r>
          </a:p>
          <a:p>
            <a:pPr>
              <a:buFont typeface="Arial" panose="020B0604020202020204" pitchFamily="34" charset="0"/>
              <a:buChar char="•"/>
            </a:pPr>
            <a:r>
              <a:rPr lang="en-IN" sz="2000" b="1" dirty="0"/>
              <a:t>Backend: </a:t>
            </a:r>
            <a:r>
              <a:rPr lang="en-IN" sz="2000" dirty="0"/>
              <a:t>Spring Boot, Spring Security (for authentication with JSESSIONID)</a:t>
            </a:r>
          </a:p>
          <a:p>
            <a:pPr>
              <a:buFont typeface="Arial" panose="020B0604020202020204" pitchFamily="34" charset="0"/>
              <a:buChar char="•"/>
            </a:pPr>
            <a:r>
              <a:rPr lang="en-IN" sz="2000" b="1" dirty="0"/>
              <a:t>Database: </a:t>
            </a:r>
            <a:r>
              <a:rPr lang="en-IN" sz="2000" dirty="0"/>
              <a:t>MySQL</a:t>
            </a:r>
          </a:p>
          <a:p>
            <a:pPr>
              <a:buFont typeface="Arial" panose="020B0604020202020204" pitchFamily="34" charset="0"/>
              <a:buChar char="•"/>
            </a:pPr>
            <a:r>
              <a:rPr lang="en-IN" sz="2000" b="1" dirty="0"/>
              <a:t>API Communication: </a:t>
            </a:r>
            <a:r>
              <a:rPr lang="en-IN" sz="2000" dirty="0"/>
              <a:t>Axios (for secure API calls between frontend and backend)</a:t>
            </a:r>
          </a:p>
          <a:p>
            <a:pPr>
              <a:buFont typeface="Arial" panose="020B0604020202020204" pitchFamily="34" charset="0"/>
              <a:buChar char="•"/>
            </a:pPr>
            <a:r>
              <a:rPr lang="en-IN" sz="2000" b="1" dirty="0"/>
              <a:t>Testing: </a:t>
            </a:r>
            <a:r>
              <a:rPr lang="en-IN" sz="2000" dirty="0"/>
              <a:t>Postman (for API testing)</a:t>
            </a:r>
          </a:p>
          <a:p>
            <a:endParaRPr lang="en-IN" dirty="0"/>
          </a:p>
        </p:txBody>
      </p:sp>
      <p:pic>
        <p:nvPicPr>
          <p:cNvPr id="6" name="Picture 5">
            <a:extLst>
              <a:ext uri="{FF2B5EF4-FFF2-40B4-BE49-F238E27FC236}">
                <a16:creationId xmlns:a16="http://schemas.microsoft.com/office/drawing/2014/main" id="{4BF38316-DAC3-59CE-92F7-3B57E80353D8}"/>
              </a:ext>
            </a:extLst>
          </p:cNvPr>
          <p:cNvPicPr>
            <a:picLocks noChangeAspect="1"/>
          </p:cNvPicPr>
          <p:nvPr/>
        </p:nvPicPr>
        <p:blipFill>
          <a:blip r:embed="rId2"/>
          <a:stretch>
            <a:fillRect/>
          </a:stretch>
        </p:blipFill>
        <p:spPr>
          <a:xfrm>
            <a:off x="7421816" y="1857320"/>
            <a:ext cx="4117340" cy="274489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80243619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C5512-216F-701D-CAEB-4B06892159AC}"/>
              </a:ext>
            </a:extLst>
          </p:cNvPr>
          <p:cNvSpPr>
            <a:spLocks noGrp="1"/>
          </p:cNvSpPr>
          <p:nvPr>
            <p:ph type="title"/>
          </p:nvPr>
        </p:nvSpPr>
        <p:spPr>
          <a:xfrm>
            <a:off x="444500" y="542925"/>
            <a:ext cx="11214100" cy="978729"/>
          </a:xfrm>
        </p:spPr>
        <p:txBody>
          <a:bodyPr/>
          <a:lstStyle/>
          <a:p>
            <a:r>
              <a:rPr lang="en-IN" b="1" dirty="0"/>
              <a:t>System Architecture</a:t>
            </a:r>
            <a:r>
              <a:rPr lang="en-IN" dirty="0"/>
              <a:t>:</a:t>
            </a:r>
            <a:br>
              <a:rPr lang="en-IN" dirty="0"/>
            </a:br>
            <a:endParaRPr lang="en-IN" dirty="0"/>
          </a:p>
        </p:txBody>
      </p:sp>
      <p:sp>
        <p:nvSpPr>
          <p:cNvPr id="3" name="Slide Number Placeholder 2">
            <a:extLst>
              <a:ext uri="{FF2B5EF4-FFF2-40B4-BE49-F238E27FC236}">
                <a16:creationId xmlns:a16="http://schemas.microsoft.com/office/drawing/2014/main" id="{DAD2223B-53D3-9530-1422-DB48FA8AB368}"/>
              </a:ext>
            </a:extLst>
          </p:cNvPr>
          <p:cNvSpPr>
            <a:spLocks noGrp="1"/>
          </p:cNvSpPr>
          <p:nvPr>
            <p:ph type="sldNum" sz="quarter" idx="12"/>
          </p:nvPr>
        </p:nvSpPr>
        <p:spPr/>
        <p:txBody>
          <a:bodyPr/>
          <a:lstStyle/>
          <a:p>
            <a:fld id="{C263D6C4-4840-40CC-AC84-17E24B3B7BDE}" type="slidenum">
              <a:rPr lang="en-US" noProof="0" smtClean="0"/>
              <a:pPr/>
              <a:t>5</a:t>
            </a:fld>
            <a:endParaRPr lang="en-US" noProof="0" dirty="0"/>
          </a:p>
        </p:txBody>
      </p:sp>
      <p:sp>
        <p:nvSpPr>
          <p:cNvPr id="4" name="Text Placeholder 3">
            <a:extLst>
              <a:ext uri="{FF2B5EF4-FFF2-40B4-BE49-F238E27FC236}">
                <a16:creationId xmlns:a16="http://schemas.microsoft.com/office/drawing/2014/main" id="{4B03EB6B-6225-2F09-0D8B-E8A14F58628D}"/>
              </a:ext>
            </a:extLst>
          </p:cNvPr>
          <p:cNvSpPr>
            <a:spLocks noGrp="1"/>
          </p:cNvSpPr>
          <p:nvPr>
            <p:ph type="body" sz="quarter" idx="13"/>
          </p:nvPr>
        </p:nvSpPr>
        <p:spPr>
          <a:xfrm>
            <a:off x="444500" y="1741131"/>
            <a:ext cx="6718300" cy="4093243"/>
          </a:xfrm>
        </p:spPr>
        <p:txBody>
          <a:bodyPr/>
          <a:lstStyle/>
          <a:p>
            <a:pPr>
              <a:buFont typeface="Arial" panose="020B0604020202020204" pitchFamily="34" charset="0"/>
              <a:buChar char="•"/>
            </a:pPr>
            <a:r>
              <a:rPr lang="en-IN" sz="2000" dirty="0"/>
              <a:t>The portal follows a client-server architecture:" </a:t>
            </a:r>
          </a:p>
          <a:p>
            <a:pPr>
              <a:buFont typeface="Arial" panose="020B0604020202020204" pitchFamily="34" charset="0"/>
              <a:buChar char="•"/>
            </a:pPr>
            <a:r>
              <a:rPr lang="en-IN" sz="1800" b="1" dirty="0"/>
              <a:t>Frontend (React)</a:t>
            </a:r>
            <a:r>
              <a:rPr lang="en-IN" sz="1800" dirty="0"/>
              <a:t>: Handles UI with components like App.js (routing), Auth.js (login), and dashboards (</a:t>
            </a:r>
            <a:r>
              <a:rPr lang="en-IN" sz="1800" dirty="0" err="1"/>
              <a:t>StudentDashboard</a:t>
            </a:r>
            <a:r>
              <a:rPr lang="en-IN" sz="1800" dirty="0"/>
              <a:t>, </a:t>
            </a:r>
            <a:r>
              <a:rPr lang="en-IN" sz="1800" dirty="0" err="1"/>
              <a:t>AdminDashboard</a:t>
            </a:r>
            <a:r>
              <a:rPr lang="en-IN" sz="1800" dirty="0"/>
              <a:t>).</a:t>
            </a:r>
          </a:p>
          <a:p>
            <a:pPr>
              <a:buFont typeface="Arial" panose="020B0604020202020204" pitchFamily="34" charset="0"/>
              <a:buChar char="•"/>
            </a:pPr>
            <a:r>
              <a:rPr lang="en-IN" sz="1800" b="1" dirty="0"/>
              <a:t>API Layer (Axios)</a:t>
            </a:r>
            <a:r>
              <a:rPr lang="en-IN" sz="1800" dirty="0"/>
              <a:t>: Manages secure communication using JSESSIONID for session-based authentication.</a:t>
            </a:r>
          </a:p>
          <a:p>
            <a:pPr>
              <a:buFont typeface="Arial" panose="020B0604020202020204" pitchFamily="34" charset="0"/>
              <a:buChar char="•"/>
            </a:pPr>
            <a:r>
              <a:rPr lang="en-IN" sz="1800" b="1" dirty="0"/>
              <a:t>Backend (Spring Boot)</a:t>
            </a:r>
            <a:r>
              <a:rPr lang="en-IN" sz="1800" dirty="0"/>
              <a:t>: Processes requests via controllers like </a:t>
            </a:r>
            <a:r>
              <a:rPr lang="en-IN" sz="1800" dirty="0" err="1"/>
              <a:t>UserController</a:t>
            </a:r>
            <a:r>
              <a:rPr lang="en-IN" sz="1800" dirty="0"/>
              <a:t> and </a:t>
            </a:r>
            <a:r>
              <a:rPr lang="en-IN" sz="1800" dirty="0" err="1"/>
              <a:t>MaterialController</a:t>
            </a:r>
            <a:r>
              <a:rPr lang="en-IN" sz="1800" dirty="0"/>
              <a:t>.</a:t>
            </a:r>
          </a:p>
          <a:p>
            <a:pPr>
              <a:buFont typeface="Arial" panose="020B0604020202020204" pitchFamily="34" charset="0"/>
              <a:buChar char="•"/>
            </a:pPr>
            <a:r>
              <a:rPr lang="en-IN" sz="1800" b="1" dirty="0"/>
              <a:t>Database (MySQL)</a:t>
            </a:r>
            <a:r>
              <a:rPr lang="en-IN" sz="1800" dirty="0"/>
              <a:t>: Stores data in the project schema, including users, materials, and announcements</a:t>
            </a:r>
            <a:r>
              <a:rPr lang="en-IN" dirty="0"/>
              <a:t>.</a:t>
            </a:r>
          </a:p>
          <a:p>
            <a:endParaRPr lang="en-IN" dirty="0"/>
          </a:p>
        </p:txBody>
      </p:sp>
      <p:pic>
        <p:nvPicPr>
          <p:cNvPr id="6" name="Picture 5">
            <a:extLst>
              <a:ext uri="{FF2B5EF4-FFF2-40B4-BE49-F238E27FC236}">
                <a16:creationId xmlns:a16="http://schemas.microsoft.com/office/drawing/2014/main" id="{2FC78873-1AF4-6085-4934-BD51B58688FC}"/>
              </a:ext>
            </a:extLst>
          </p:cNvPr>
          <p:cNvPicPr>
            <a:picLocks noChangeAspect="1"/>
          </p:cNvPicPr>
          <p:nvPr/>
        </p:nvPicPr>
        <p:blipFill>
          <a:blip r:embed="rId2"/>
          <a:stretch>
            <a:fillRect/>
          </a:stretch>
        </p:blipFill>
        <p:spPr>
          <a:xfrm>
            <a:off x="7469690" y="1290095"/>
            <a:ext cx="4277810" cy="427781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07417483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3AC82-BAEE-B71E-68D5-2880266DDA9B}"/>
              </a:ext>
            </a:extLst>
          </p:cNvPr>
          <p:cNvSpPr>
            <a:spLocks noGrp="1"/>
          </p:cNvSpPr>
          <p:nvPr>
            <p:ph type="title"/>
          </p:nvPr>
        </p:nvSpPr>
        <p:spPr>
          <a:xfrm>
            <a:off x="444500" y="542925"/>
            <a:ext cx="11214100" cy="978729"/>
          </a:xfrm>
        </p:spPr>
        <p:txBody>
          <a:bodyPr/>
          <a:lstStyle/>
          <a:p>
            <a:r>
              <a:rPr lang="en-IN" b="1" dirty="0"/>
              <a:t>Core Features</a:t>
            </a:r>
            <a:r>
              <a:rPr lang="en-IN" dirty="0"/>
              <a:t>:</a:t>
            </a:r>
            <a:br>
              <a:rPr lang="en-IN" dirty="0"/>
            </a:br>
            <a:endParaRPr lang="en-IN" dirty="0"/>
          </a:p>
        </p:txBody>
      </p:sp>
      <p:sp>
        <p:nvSpPr>
          <p:cNvPr id="3" name="Slide Number Placeholder 2">
            <a:extLst>
              <a:ext uri="{FF2B5EF4-FFF2-40B4-BE49-F238E27FC236}">
                <a16:creationId xmlns:a16="http://schemas.microsoft.com/office/drawing/2014/main" id="{5857F914-BA3C-1183-4BBF-93568F0E6DF2}"/>
              </a:ext>
            </a:extLst>
          </p:cNvPr>
          <p:cNvSpPr>
            <a:spLocks noGrp="1"/>
          </p:cNvSpPr>
          <p:nvPr>
            <p:ph type="sldNum" sz="quarter" idx="12"/>
          </p:nvPr>
        </p:nvSpPr>
        <p:spPr/>
        <p:txBody>
          <a:bodyPr/>
          <a:lstStyle/>
          <a:p>
            <a:fld id="{C263D6C4-4840-40CC-AC84-17E24B3B7BDE}" type="slidenum">
              <a:rPr lang="en-US" noProof="0" smtClean="0"/>
              <a:pPr/>
              <a:t>6</a:t>
            </a:fld>
            <a:endParaRPr lang="en-US" noProof="0" dirty="0"/>
          </a:p>
        </p:txBody>
      </p:sp>
      <p:sp>
        <p:nvSpPr>
          <p:cNvPr id="4" name="Text Placeholder 3">
            <a:extLst>
              <a:ext uri="{FF2B5EF4-FFF2-40B4-BE49-F238E27FC236}">
                <a16:creationId xmlns:a16="http://schemas.microsoft.com/office/drawing/2014/main" id="{0A6A50A1-1528-CA9B-310E-4FADD780DBFE}"/>
              </a:ext>
            </a:extLst>
          </p:cNvPr>
          <p:cNvSpPr>
            <a:spLocks noGrp="1"/>
          </p:cNvSpPr>
          <p:nvPr>
            <p:ph type="body" sz="quarter" idx="13"/>
          </p:nvPr>
        </p:nvSpPr>
        <p:spPr/>
        <p:txBody>
          <a:bodyPr/>
          <a:lstStyle/>
          <a:p>
            <a:r>
              <a:rPr lang="en-US" sz="2000" b="1" dirty="0"/>
              <a:t>Role-Based Access: </a:t>
            </a:r>
            <a:r>
              <a:rPr lang="en-US" sz="2000" dirty="0"/>
              <a:t>Separate dashboards for students (ROLE_STUDENT) and admins (ROLE_ADMIN).</a:t>
            </a:r>
          </a:p>
          <a:p>
            <a:r>
              <a:rPr lang="en-US" sz="2000" b="1" dirty="0"/>
              <a:t>Resource Management: </a:t>
            </a:r>
            <a:r>
              <a:rPr lang="en-US" sz="2000" dirty="0"/>
              <a:t>Admins can perform CRUD operations on materials, announcements, and syllabus.</a:t>
            </a:r>
          </a:p>
          <a:p>
            <a:r>
              <a:rPr lang="en-US" sz="2000" b="1" dirty="0"/>
              <a:t>Secure Authentication: </a:t>
            </a:r>
            <a:r>
              <a:rPr lang="en-US" sz="2000" dirty="0"/>
              <a:t>Uses JSESSIONID for session-based access with Spring Security.</a:t>
            </a:r>
          </a:p>
          <a:p>
            <a:r>
              <a:rPr lang="en-US" sz="2000" b="1" dirty="0" err="1"/>
              <a:t>Glassmorphism</a:t>
            </a:r>
            <a:r>
              <a:rPr lang="en-US" sz="2000" b="1" dirty="0"/>
              <a:t> UI: </a:t>
            </a:r>
            <a:r>
              <a:rPr lang="en-US" sz="2000" dirty="0"/>
              <a:t>Modern design with #8ab1e8 accents, pulse animations, and responsive layouts.</a:t>
            </a:r>
          </a:p>
          <a:p>
            <a:r>
              <a:rPr lang="en-US" sz="2000" b="1" dirty="0"/>
              <a:t>File Handling: </a:t>
            </a:r>
            <a:r>
              <a:rPr lang="en-US" sz="2000" dirty="0"/>
              <a:t>Supports file uploads (e.g., notes.pdf) stored in E:/Project/uploads/.</a:t>
            </a:r>
          </a:p>
          <a:p>
            <a:endParaRPr lang="en-IN" dirty="0"/>
          </a:p>
        </p:txBody>
      </p:sp>
      <p:pic>
        <p:nvPicPr>
          <p:cNvPr id="6" name="Picture 5">
            <a:extLst>
              <a:ext uri="{FF2B5EF4-FFF2-40B4-BE49-F238E27FC236}">
                <a16:creationId xmlns:a16="http://schemas.microsoft.com/office/drawing/2014/main" id="{2175742C-BE35-ED46-5161-E83FA25A9D2F}"/>
              </a:ext>
            </a:extLst>
          </p:cNvPr>
          <p:cNvPicPr>
            <a:picLocks noChangeAspect="1"/>
          </p:cNvPicPr>
          <p:nvPr/>
        </p:nvPicPr>
        <p:blipFill>
          <a:blip r:embed="rId2"/>
          <a:stretch>
            <a:fillRect/>
          </a:stretch>
        </p:blipFill>
        <p:spPr>
          <a:xfrm>
            <a:off x="7481078" y="1625385"/>
            <a:ext cx="3771122" cy="377112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9154103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3A900-66AE-C500-006B-971FFCB621A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9FD2BA4-37AA-8933-D907-DB0499751AEE}"/>
              </a:ext>
            </a:extLst>
          </p:cNvPr>
          <p:cNvSpPr>
            <a:spLocks noGrp="1"/>
          </p:cNvSpPr>
          <p:nvPr>
            <p:ph type="title"/>
          </p:nvPr>
        </p:nvSpPr>
        <p:spPr>
          <a:xfrm>
            <a:off x="488950" y="745660"/>
            <a:ext cx="11214100" cy="757130"/>
          </a:xfrm>
        </p:spPr>
        <p:txBody>
          <a:bodyPr/>
          <a:lstStyle/>
          <a:p>
            <a:r>
              <a:rPr lang="en-US" sz="2400" dirty="0"/>
              <a:t>OJT-I: Frontend Development at </a:t>
            </a:r>
            <a:r>
              <a:rPr lang="en-US" sz="2400" dirty="0" err="1"/>
              <a:t>Abhivriddhi</a:t>
            </a:r>
            <a:r>
              <a:rPr lang="en-US" sz="2400" dirty="0"/>
              <a:t> </a:t>
            </a:r>
            <a:br>
              <a:rPr lang="en-US" sz="2400" dirty="0"/>
            </a:br>
            <a:r>
              <a:rPr lang="en-US" sz="2400" dirty="0"/>
              <a:t>Infotech</a:t>
            </a:r>
          </a:p>
        </p:txBody>
      </p:sp>
      <p:sp>
        <p:nvSpPr>
          <p:cNvPr id="10" name="Text Placeholder 9">
            <a:extLst>
              <a:ext uri="{FF2B5EF4-FFF2-40B4-BE49-F238E27FC236}">
                <a16:creationId xmlns:a16="http://schemas.microsoft.com/office/drawing/2014/main" id="{D9F4186A-9729-D4A7-560C-9DFC25B39AEE}"/>
              </a:ext>
            </a:extLst>
          </p:cNvPr>
          <p:cNvSpPr>
            <a:spLocks noGrp="1"/>
          </p:cNvSpPr>
          <p:nvPr>
            <p:ph type="body" sz="quarter" idx="13"/>
          </p:nvPr>
        </p:nvSpPr>
        <p:spPr>
          <a:xfrm>
            <a:off x="488950" y="1862311"/>
            <a:ext cx="6718300" cy="4093243"/>
          </a:xfrm>
        </p:spPr>
        <p:txBody>
          <a:bodyPr/>
          <a:lstStyle/>
          <a:p>
            <a:r>
              <a:rPr lang="en-US" b="1" dirty="0"/>
              <a:t>Role</a:t>
            </a:r>
            <a:r>
              <a:rPr lang="en-US" dirty="0"/>
              <a:t>: Web designer/developer, focused on React, HTML, and CSS for the CSE portal.</a:t>
            </a:r>
          </a:p>
          <a:p>
            <a:pPr>
              <a:buFont typeface="Arial" panose="020B0604020202020204" pitchFamily="34" charset="0"/>
              <a:buChar char="•"/>
            </a:pPr>
            <a:r>
              <a:rPr lang="en-IN" b="1" dirty="0"/>
              <a:t>Skills Applied</a:t>
            </a:r>
            <a:r>
              <a:rPr lang="en-IN" dirty="0"/>
              <a:t>: Developed React components: App.js (routing), Auth.js (login), </a:t>
            </a:r>
            <a:r>
              <a:rPr lang="en-IN" dirty="0" err="1"/>
              <a:t>MaterialForm</a:t>
            </a:r>
            <a:r>
              <a:rPr lang="en-IN" dirty="0"/>
              <a:t> (forms).</a:t>
            </a:r>
          </a:p>
          <a:p>
            <a:pPr>
              <a:buFont typeface="Arial" panose="020B0604020202020204" pitchFamily="34" charset="0"/>
              <a:buChar char="•"/>
            </a:pPr>
            <a:r>
              <a:rPr lang="en-IN" dirty="0"/>
              <a:t>Designed </a:t>
            </a:r>
            <a:r>
              <a:rPr lang="en-IN" dirty="0" err="1"/>
              <a:t>glassmorphism</a:t>
            </a:r>
            <a:r>
              <a:rPr lang="en-IN" dirty="0"/>
              <a:t> UI with #8ab1e8 accents, pulse animations, and responsive layouts (768px, 480px media queries).</a:t>
            </a:r>
          </a:p>
          <a:p>
            <a:pPr>
              <a:buFont typeface="Arial" panose="020B0604020202020204" pitchFamily="34" charset="0"/>
              <a:buChar char="•"/>
            </a:pPr>
            <a:r>
              <a:rPr lang="en-IN" dirty="0"/>
              <a:t>Tested and fixed UI bugs for smooth functionality.</a:t>
            </a:r>
          </a:p>
          <a:p>
            <a:r>
              <a:rPr lang="en-US" b="1" dirty="0"/>
              <a:t>Learning</a:t>
            </a:r>
            <a:r>
              <a:rPr lang="en-US" dirty="0"/>
              <a:t>: Gained hands-on UI/UX design and collaboration skills with mentor feedback.</a:t>
            </a:r>
          </a:p>
          <a:p>
            <a:pPr>
              <a:buFont typeface="Arial" panose="020B0604020202020204" pitchFamily="34" charset="0"/>
              <a:buChar char="•"/>
            </a:pPr>
            <a:r>
              <a:rPr lang="en-IN" b="1" dirty="0"/>
              <a:t>Problems Faced</a:t>
            </a:r>
            <a:r>
              <a:rPr lang="en-IN" dirty="0"/>
              <a:t>: </a:t>
            </a:r>
          </a:p>
          <a:p>
            <a:pPr lvl="1"/>
            <a:r>
              <a:rPr lang="en-IN" sz="1600" dirty="0"/>
              <a:t>Responsive design issues: Struggled with form layouts across devices, fixed with media queries (768px, 480px).</a:t>
            </a:r>
          </a:p>
          <a:p>
            <a:pPr lvl="1"/>
            <a:r>
              <a:rPr lang="en-IN" sz="1600" dirty="0"/>
              <a:t>Form submission errors in </a:t>
            </a:r>
            <a:r>
              <a:rPr lang="en-IN" sz="1600" dirty="0" err="1"/>
              <a:t>MaterialForm</a:t>
            </a:r>
            <a:r>
              <a:rPr lang="en-IN" sz="1600" dirty="0"/>
              <a:t>: Data wasn’t sent correctly, resolved by debugging </a:t>
            </a:r>
            <a:r>
              <a:rPr lang="en-IN" sz="1600" dirty="0" err="1"/>
              <a:t>FormData</a:t>
            </a:r>
            <a:r>
              <a:rPr lang="en-IN" sz="1600" dirty="0"/>
              <a:t> handling.</a:t>
            </a:r>
          </a:p>
          <a:p>
            <a:pPr lvl="1"/>
            <a:endParaRPr lang="en-US" sz="1600" dirty="0"/>
          </a:p>
          <a:p>
            <a:pPr marL="0" indent="0">
              <a:buNone/>
            </a:pPr>
            <a:endParaRPr lang="en-US" dirty="0"/>
          </a:p>
          <a:p>
            <a:endParaRPr lang="en-US" dirty="0"/>
          </a:p>
        </p:txBody>
      </p:sp>
      <p:sp>
        <p:nvSpPr>
          <p:cNvPr id="2" name="Slide Number Placeholder 1">
            <a:extLst>
              <a:ext uri="{FF2B5EF4-FFF2-40B4-BE49-F238E27FC236}">
                <a16:creationId xmlns:a16="http://schemas.microsoft.com/office/drawing/2014/main" id="{B4E6ECFB-EFD5-C8AB-5FD6-02D6E36AB8BD}"/>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
        <p:nvSpPr>
          <p:cNvPr id="6" name="Rectangle 4">
            <a:extLst>
              <a:ext uri="{FF2B5EF4-FFF2-40B4-BE49-F238E27FC236}">
                <a16:creationId xmlns:a16="http://schemas.microsoft.com/office/drawing/2014/main" id="{951C4C1D-25FD-1F92-3887-B28BE1E4EE0A}"/>
              </a:ext>
            </a:extLst>
          </p:cNvPr>
          <p:cNvSpPr>
            <a:spLocks noChangeArrowheads="1"/>
          </p:cNvSpPr>
          <p:nvPr/>
        </p:nvSpPr>
        <p:spPr bwMode="auto">
          <a:xfrm>
            <a:off x="0" y="-461665"/>
            <a:ext cx="2648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CFF02546-91EC-3DB0-BA41-83B6A51B73DF}"/>
              </a:ext>
            </a:extLst>
          </p:cNvPr>
          <p:cNvPicPr>
            <a:picLocks noChangeAspect="1"/>
          </p:cNvPicPr>
          <p:nvPr/>
        </p:nvPicPr>
        <p:blipFill>
          <a:blip r:embed="rId2"/>
          <a:stretch>
            <a:fillRect/>
          </a:stretch>
        </p:blipFill>
        <p:spPr>
          <a:xfrm>
            <a:off x="7517364" y="1684162"/>
            <a:ext cx="4469681" cy="28394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45786231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1AF25-ED49-A45B-7376-046344416B9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2C54527-50A1-2583-DABA-54AE8AD05F08}"/>
              </a:ext>
            </a:extLst>
          </p:cNvPr>
          <p:cNvSpPr>
            <a:spLocks noGrp="1"/>
          </p:cNvSpPr>
          <p:nvPr>
            <p:ph type="title"/>
          </p:nvPr>
        </p:nvSpPr>
        <p:spPr>
          <a:xfrm>
            <a:off x="488950" y="745660"/>
            <a:ext cx="11214100" cy="757130"/>
          </a:xfrm>
        </p:spPr>
        <p:txBody>
          <a:bodyPr/>
          <a:lstStyle/>
          <a:p>
            <a:r>
              <a:rPr lang="en-US" sz="2400" dirty="0"/>
              <a:t>OJT-I Use Case: Admin Adding Study Material</a:t>
            </a:r>
            <a:br>
              <a:rPr lang="en-US" sz="1400" dirty="0"/>
            </a:br>
            <a:endParaRPr lang="en-US" sz="2400" dirty="0"/>
          </a:p>
        </p:txBody>
      </p:sp>
      <p:sp>
        <p:nvSpPr>
          <p:cNvPr id="10" name="Text Placeholder 9">
            <a:extLst>
              <a:ext uri="{FF2B5EF4-FFF2-40B4-BE49-F238E27FC236}">
                <a16:creationId xmlns:a16="http://schemas.microsoft.com/office/drawing/2014/main" id="{C8F66614-F667-B080-67DD-75FF15F33BA0}"/>
              </a:ext>
            </a:extLst>
          </p:cNvPr>
          <p:cNvSpPr>
            <a:spLocks noGrp="1"/>
          </p:cNvSpPr>
          <p:nvPr>
            <p:ph type="body" sz="quarter" idx="13"/>
          </p:nvPr>
        </p:nvSpPr>
        <p:spPr>
          <a:xfrm>
            <a:off x="488950" y="1824989"/>
            <a:ext cx="6718300" cy="4093243"/>
          </a:xfrm>
        </p:spPr>
        <p:txBody>
          <a:bodyPr/>
          <a:lstStyle/>
          <a:p>
            <a:r>
              <a:rPr lang="en-US" sz="1800" b="1" dirty="0"/>
              <a:t>Use Case</a:t>
            </a:r>
            <a:r>
              <a:rPr lang="en-US" sz="1800" dirty="0"/>
              <a:t>: Admin adds study material via </a:t>
            </a:r>
            <a:r>
              <a:rPr lang="en-US" sz="1800" dirty="0" err="1"/>
              <a:t>MaterialForm</a:t>
            </a:r>
            <a:r>
              <a:rPr lang="en-US" sz="1800" dirty="0"/>
              <a:t>, which students can then access.</a:t>
            </a:r>
          </a:p>
          <a:p>
            <a:pPr>
              <a:buFont typeface="Arial" panose="020B0604020202020204" pitchFamily="34" charset="0"/>
              <a:buChar char="•"/>
            </a:pPr>
            <a:r>
              <a:rPr lang="en-IN" sz="1800" b="1" dirty="0"/>
              <a:t>Demo Steps</a:t>
            </a:r>
            <a:r>
              <a:rPr lang="en-IN" sz="1800" dirty="0"/>
              <a:t>: Login as admin (admin@gmail.com, admin) → redirects to /admin.</a:t>
            </a:r>
          </a:p>
          <a:p>
            <a:pPr lvl="1"/>
            <a:r>
              <a:rPr lang="en-IN" sz="1500" dirty="0"/>
              <a:t>Navigate to “Materials” in </a:t>
            </a:r>
            <a:r>
              <a:rPr lang="en-IN" sz="1500" dirty="0" err="1"/>
              <a:t>AdminDashboard</a:t>
            </a:r>
            <a:r>
              <a:rPr lang="en-IN" sz="1500" dirty="0"/>
              <a:t>, click “Add Material.”</a:t>
            </a:r>
          </a:p>
          <a:p>
            <a:pPr lvl="1"/>
            <a:r>
              <a:rPr lang="en-IN" sz="1500" dirty="0"/>
              <a:t>Use </a:t>
            </a:r>
            <a:r>
              <a:rPr lang="en-IN" sz="1500" dirty="0" err="1"/>
              <a:t>MaterialForm</a:t>
            </a:r>
            <a:r>
              <a:rPr lang="en-IN" sz="1500" dirty="0"/>
              <a:t> to add “Java Notes” (Semester 3, notes.pdf).</a:t>
            </a:r>
          </a:p>
          <a:p>
            <a:pPr lvl="1"/>
            <a:r>
              <a:rPr lang="en-IN" sz="1500" dirty="0"/>
              <a:t>Show updated materials table.</a:t>
            </a:r>
          </a:p>
          <a:p>
            <a:pPr lvl="1"/>
            <a:r>
              <a:rPr lang="en-IN" sz="1500" dirty="0"/>
              <a:t>Resize window to demonstrate responsive form layout.</a:t>
            </a:r>
          </a:p>
          <a:p>
            <a:pPr marL="0" indent="0">
              <a:buNone/>
            </a:pPr>
            <a:endParaRPr lang="en-US" dirty="0"/>
          </a:p>
        </p:txBody>
      </p:sp>
      <p:sp>
        <p:nvSpPr>
          <p:cNvPr id="2" name="Slide Number Placeholder 1">
            <a:extLst>
              <a:ext uri="{FF2B5EF4-FFF2-40B4-BE49-F238E27FC236}">
                <a16:creationId xmlns:a16="http://schemas.microsoft.com/office/drawing/2014/main" id="{D95A99A9-4E93-7023-551B-B9F78AD60EFE}"/>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
        <p:nvSpPr>
          <p:cNvPr id="6" name="Rectangle 4">
            <a:extLst>
              <a:ext uri="{FF2B5EF4-FFF2-40B4-BE49-F238E27FC236}">
                <a16:creationId xmlns:a16="http://schemas.microsoft.com/office/drawing/2014/main" id="{DDBE5437-4A6A-C483-C149-8219A4388206}"/>
              </a:ext>
            </a:extLst>
          </p:cNvPr>
          <p:cNvSpPr>
            <a:spLocks noChangeArrowheads="1"/>
          </p:cNvSpPr>
          <p:nvPr/>
        </p:nvSpPr>
        <p:spPr bwMode="auto">
          <a:xfrm>
            <a:off x="0" y="-461665"/>
            <a:ext cx="2648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A47ADE70-2272-EE21-B837-F0C6F9F79351}"/>
              </a:ext>
            </a:extLst>
          </p:cNvPr>
          <p:cNvPicPr>
            <a:picLocks noChangeAspect="1"/>
          </p:cNvPicPr>
          <p:nvPr/>
        </p:nvPicPr>
        <p:blipFill>
          <a:blip r:embed="rId2"/>
          <a:stretch>
            <a:fillRect/>
          </a:stretch>
        </p:blipFill>
        <p:spPr>
          <a:xfrm>
            <a:off x="7019639" y="1750344"/>
            <a:ext cx="4859159" cy="311642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80580116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11C253-592F-DD13-FE70-FDEF3F543BCD}"/>
              </a:ext>
            </a:extLst>
          </p:cNvPr>
          <p:cNvSpPr>
            <a:spLocks noGrp="1"/>
          </p:cNvSpPr>
          <p:nvPr>
            <p:ph type="title"/>
          </p:nvPr>
        </p:nvSpPr>
        <p:spPr>
          <a:xfrm>
            <a:off x="444500" y="542925"/>
            <a:ext cx="11214100" cy="1421928"/>
          </a:xfrm>
        </p:spPr>
        <p:txBody>
          <a:bodyPr/>
          <a:lstStyle/>
          <a:p>
            <a:r>
              <a:rPr lang="en-US" sz="3200" dirty="0"/>
              <a:t>OJT-II: Backend Development at </a:t>
            </a:r>
            <a:br>
              <a:rPr lang="en-US" sz="3200" dirty="0"/>
            </a:br>
            <a:r>
              <a:rPr lang="en-US" sz="3200" dirty="0" err="1"/>
              <a:t>Abhivriddhi</a:t>
            </a:r>
            <a:r>
              <a:rPr lang="en-US" sz="3200" dirty="0"/>
              <a:t> Infotech</a:t>
            </a:r>
            <a:br>
              <a:rPr lang="en-US" sz="1800" dirty="0"/>
            </a:br>
            <a:endParaRPr lang="en-IN" dirty="0"/>
          </a:p>
        </p:txBody>
      </p:sp>
      <p:sp>
        <p:nvSpPr>
          <p:cNvPr id="3" name="Slide Number Placeholder 2">
            <a:extLst>
              <a:ext uri="{FF2B5EF4-FFF2-40B4-BE49-F238E27FC236}">
                <a16:creationId xmlns:a16="http://schemas.microsoft.com/office/drawing/2014/main" id="{F806D181-EA78-0101-7402-DD0487732B6A}"/>
              </a:ext>
            </a:extLst>
          </p:cNvPr>
          <p:cNvSpPr>
            <a:spLocks noGrp="1"/>
          </p:cNvSpPr>
          <p:nvPr>
            <p:ph type="sldNum" sz="quarter" idx="12"/>
          </p:nvPr>
        </p:nvSpPr>
        <p:spPr/>
        <p:txBody>
          <a:bodyPr/>
          <a:lstStyle/>
          <a:p>
            <a:fld id="{C263D6C4-4840-40CC-AC84-17E24B3B7BDE}" type="slidenum">
              <a:rPr lang="en-US" noProof="0" smtClean="0"/>
              <a:pPr/>
              <a:t>9</a:t>
            </a:fld>
            <a:endParaRPr lang="en-US" noProof="0" dirty="0"/>
          </a:p>
        </p:txBody>
      </p:sp>
      <p:sp>
        <p:nvSpPr>
          <p:cNvPr id="6" name="Text Placeholder 5">
            <a:extLst>
              <a:ext uri="{FF2B5EF4-FFF2-40B4-BE49-F238E27FC236}">
                <a16:creationId xmlns:a16="http://schemas.microsoft.com/office/drawing/2014/main" id="{B17FF77E-A8BD-B48E-C281-8B83EB141363}"/>
              </a:ext>
            </a:extLst>
          </p:cNvPr>
          <p:cNvSpPr>
            <a:spLocks noGrp="1"/>
          </p:cNvSpPr>
          <p:nvPr>
            <p:ph type="body" sz="quarter" idx="13"/>
          </p:nvPr>
        </p:nvSpPr>
        <p:spPr>
          <a:xfrm>
            <a:off x="444500" y="1963566"/>
            <a:ext cx="6419287" cy="3815627"/>
          </a:xfrm>
        </p:spPr>
        <p:txBody>
          <a:bodyPr/>
          <a:lstStyle/>
          <a:p>
            <a:r>
              <a:rPr lang="en-US" sz="1800" b="1" dirty="0"/>
              <a:t>Role</a:t>
            </a:r>
            <a:r>
              <a:rPr lang="en-US" sz="1800" dirty="0"/>
              <a:t>: Backend developer, integrated frontend with Spring Boot and managed database operations.</a:t>
            </a:r>
          </a:p>
          <a:p>
            <a:pPr>
              <a:buFont typeface="Arial" panose="020B0604020202020204" pitchFamily="34" charset="0"/>
              <a:buChar char="•"/>
            </a:pPr>
            <a:r>
              <a:rPr lang="en-US" sz="1800" b="1" dirty="0"/>
              <a:t>Skills Applied</a:t>
            </a:r>
            <a:r>
              <a:rPr lang="en-US" dirty="0"/>
              <a:t>: </a:t>
            </a:r>
          </a:p>
          <a:p>
            <a:pPr lvl="1"/>
            <a:r>
              <a:rPr lang="en-US" sz="1600" dirty="0"/>
              <a:t>Used axios.js with </a:t>
            </a:r>
            <a:r>
              <a:rPr lang="en-US" sz="1600" dirty="0" err="1"/>
              <a:t>withCredentials</a:t>
            </a:r>
            <a:r>
              <a:rPr lang="en-US" sz="1600" dirty="0"/>
              <a:t>: true for secure API calls with JSESSIONID.</a:t>
            </a:r>
          </a:p>
          <a:p>
            <a:pPr lvl="1"/>
            <a:r>
              <a:rPr lang="en-US" sz="1600" dirty="0"/>
              <a:t>Implemented file uploads in </a:t>
            </a:r>
            <a:r>
              <a:rPr lang="en-US" sz="1600" dirty="0" err="1"/>
              <a:t>MaterialController</a:t>
            </a:r>
            <a:r>
              <a:rPr lang="en-US" sz="1600" dirty="0"/>
              <a:t> using </a:t>
            </a:r>
            <a:r>
              <a:rPr lang="en-US" sz="1600" dirty="0" err="1"/>
              <a:t>MultipartFile</a:t>
            </a:r>
            <a:r>
              <a:rPr lang="en-US" sz="1600" dirty="0"/>
              <a:t>, storing files in E:/Project/uploads/.</a:t>
            </a:r>
          </a:p>
          <a:p>
            <a:pPr lvl="1"/>
            <a:r>
              <a:rPr lang="en-US" sz="1600" dirty="0"/>
              <a:t>Fixed CORS issues (March 30, 2025) with @CrossOrigin and 401 errors (March 28, 2025) with role checks</a:t>
            </a:r>
            <a:r>
              <a:rPr lang="en-US" dirty="0"/>
              <a:t>.</a:t>
            </a:r>
          </a:p>
          <a:p>
            <a:r>
              <a:rPr lang="en-US" sz="1800" b="1" dirty="0"/>
              <a:t>Learning</a:t>
            </a:r>
            <a:r>
              <a:rPr lang="en-US" sz="1800" dirty="0"/>
              <a:t>: Developed backend integration, security, and debugging skills with mentorship</a:t>
            </a:r>
            <a:r>
              <a:rPr lang="en-US" dirty="0"/>
              <a:t>.</a:t>
            </a:r>
          </a:p>
          <a:p>
            <a:endParaRPr lang="en-IN" dirty="0"/>
          </a:p>
        </p:txBody>
      </p:sp>
      <p:pic>
        <p:nvPicPr>
          <p:cNvPr id="12" name="Picture 11">
            <a:extLst>
              <a:ext uri="{FF2B5EF4-FFF2-40B4-BE49-F238E27FC236}">
                <a16:creationId xmlns:a16="http://schemas.microsoft.com/office/drawing/2014/main" id="{E681D2AB-250F-D34F-F752-1189C1829924}"/>
              </a:ext>
            </a:extLst>
          </p:cNvPr>
          <p:cNvPicPr>
            <a:picLocks noChangeAspect="1"/>
          </p:cNvPicPr>
          <p:nvPr/>
        </p:nvPicPr>
        <p:blipFill>
          <a:blip r:embed="rId2"/>
          <a:stretch>
            <a:fillRect/>
          </a:stretch>
        </p:blipFill>
        <p:spPr>
          <a:xfrm>
            <a:off x="7931873" y="1839087"/>
            <a:ext cx="3815627" cy="38156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260315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CF248-AF0C-A623-79DF-2E59D919B76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9AF468D-5FE7-5E27-8EEA-F977275AC074}"/>
              </a:ext>
            </a:extLst>
          </p:cNvPr>
          <p:cNvSpPr>
            <a:spLocks noGrp="1"/>
          </p:cNvSpPr>
          <p:nvPr>
            <p:ph type="title"/>
          </p:nvPr>
        </p:nvSpPr>
        <p:spPr>
          <a:xfrm>
            <a:off x="444500" y="508727"/>
            <a:ext cx="11214100" cy="757130"/>
          </a:xfrm>
        </p:spPr>
        <p:txBody>
          <a:bodyPr/>
          <a:lstStyle/>
          <a:p>
            <a:r>
              <a:rPr lang="en-US" sz="2400" dirty="0"/>
              <a:t>OJT-II Use Case: Student Accessing Materials</a:t>
            </a:r>
            <a:br>
              <a:rPr lang="en-US" sz="1400" dirty="0"/>
            </a:br>
            <a:endParaRPr lang="en-US" sz="2400" dirty="0"/>
          </a:p>
        </p:txBody>
      </p:sp>
      <p:sp>
        <p:nvSpPr>
          <p:cNvPr id="10" name="Text Placeholder 9">
            <a:extLst>
              <a:ext uri="{FF2B5EF4-FFF2-40B4-BE49-F238E27FC236}">
                <a16:creationId xmlns:a16="http://schemas.microsoft.com/office/drawing/2014/main" id="{79F4ED17-21AB-8115-DA26-CFC378AC3C1F}"/>
              </a:ext>
            </a:extLst>
          </p:cNvPr>
          <p:cNvSpPr>
            <a:spLocks noGrp="1"/>
          </p:cNvSpPr>
          <p:nvPr>
            <p:ph type="body" sz="quarter" idx="13"/>
          </p:nvPr>
        </p:nvSpPr>
        <p:spPr>
          <a:xfrm>
            <a:off x="444500" y="1265857"/>
            <a:ext cx="6718300" cy="4093243"/>
          </a:xfrm>
        </p:spPr>
        <p:txBody>
          <a:bodyPr/>
          <a:lstStyle/>
          <a:p>
            <a:r>
              <a:rPr lang="en-US" sz="2000" b="1" dirty="0"/>
              <a:t>Use Case</a:t>
            </a:r>
            <a:r>
              <a:rPr lang="en-US" sz="2000" dirty="0"/>
              <a:t>: Student accesses material in </a:t>
            </a:r>
            <a:r>
              <a:rPr lang="en-US" sz="2000" dirty="0" err="1"/>
              <a:t>StudentDashboard</a:t>
            </a:r>
            <a:r>
              <a:rPr lang="en-US" sz="2000" dirty="0"/>
              <a:t>, showing end-to-end functionality.</a:t>
            </a:r>
          </a:p>
          <a:p>
            <a:pPr>
              <a:buFont typeface="Arial" panose="020B0604020202020204" pitchFamily="34" charset="0"/>
              <a:buChar char="•"/>
            </a:pPr>
            <a:r>
              <a:rPr lang="en-US" sz="2000" b="1" dirty="0"/>
              <a:t>Demo Steps</a:t>
            </a:r>
            <a:r>
              <a:rPr lang="en-US" sz="2000" dirty="0"/>
              <a:t>: </a:t>
            </a:r>
          </a:p>
          <a:p>
            <a:pPr lvl="1"/>
            <a:r>
              <a:rPr lang="en-US" sz="1800" dirty="0"/>
              <a:t>Logout from admin, login as student (student@gmail.com, student) → redirects to /student.</a:t>
            </a:r>
          </a:p>
          <a:p>
            <a:pPr lvl="1"/>
            <a:r>
              <a:rPr lang="en-US" sz="1800" dirty="0"/>
              <a:t>In </a:t>
            </a:r>
            <a:r>
              <a:rPr lang="en-US" sz="1800" dirty="0" err="1"/>
              <a:t>StudentDashboard</a:t>
            </a:r>
            <a:r>
              <a:rPr lang="en-US" sz="1800" dirty="0"/>
              <a:t>, select Semester 3, verify “Java Notes” is listed.</a:t>
            </a:r>
          </a:p>
          <a:p>
            <a:pPr lvl="1"/>
            <a:r>
              <a:rPr lang="en-US" sz="1800" dirty="0"/>
              <a:t>Open material in a modal to show file viewing.</a:t>
            </a:r>
          </a:p>
          <a:p>
            <a:pPr lvl="1"/>
            <a:r>
              <a:rPr lang="en-US" sz="1800" dirty="0"/>
              <a:t>Logout to show redirect to /auth.</a:t>
            </a:r>
          </a:p>
          <a:p>
            <a:pPr>
              <a:buFont typeface="Arial" panose="020B0604020202020204" pitchFamily="34" charset="0"/>
              <a:buChar char="•"/>
            </a:pPr>
            <a:r>
              <a:rPr lang="en-US" sz="1800" b="1" dirty="0"/>
              <a:t>Problems Faced</a:t>
            </a:r>
            <a:r>
              <a:rPr lang="en-US" sz="1800" dirty="0"/>
              <a:t>: </a:t>
            </a:r>
          </a:p>
          <a:p>
            <a:pPr lvl="1"/>
            <a:r>
              <a:rPr lang="en-US" sz="1600" dirty="0"/>
              <a:t>CORS issues (March 30, 2025): Frontend-backend communication failed, fixed with @CrossOrigin.</a:t>
            </a:r>
          </a:p>
          <a:p>
            <a:pPr lvl="1"/>
            <a:r>
              <a:rPr lang="en-US" sz="1600" dirty="0"/>
              <a:t>401 errors (March 28, 2025): Authentication issues due to role mismatches, resolved by validating roles in Spring Security.</a:t>
            </a:r>
          </a:p>
          <a:p>
            <a:pPr lvl="1"/>
            <a:endParaRPr lang="en-US" dirty="0"/>
          </a:p>
          <a:p>
            <a:pPr marL="0" indent="0">
              <a:buNone/>
            </a:pPr>
            <a:endParaRPr lang="en-US" dirty="0"/>
          </a:p>
        </p:txBody>
      </p:sp>
      <p:sp>
        <p:nvSpPr>
          <p:cNvPr id="6" name="Rectangle 4">
            <a:extLst>
              <a:ext uri="{FF2B5EF4-FFF2-40B4-BE49-F238E27FC236}">
                <a16:creationId xmlns:a16="http://schemas.microsoft.com/office/drawing/2014/main" id="{2C3D86D5-0203-F05B-314A-4E585EF68406}"/>
              </a:ext>
            </a:extLst>
          </p:cNvPr>
          <p:cNvSpPr>
            <a:spLocks noChangeArrowheads="1"/>
          </p:cNvSpPr>
          <p:nvPr/>
        </p:nvSpPr>
        <p:spPr bwMode="auto">
          <a:xfrm>
            <a:off x="0" y="-461665"/>
            <a:ext cx="2648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B8823CB2-010C-DA25-5315-E92A96782CF9}"/>
              </a:ext>
            </a:extLst>
          </p:cNvPr>
          <p:cNvPicPr>
            <a:picLocks noChangeAspect="1"/>
          </p:cNvPicPr>
          <p:nvPr/>
        </p:nvPicPr>
        <p:blipFill>
          <a:blip r:embed="rId2"/>
          <a:stretch>
            <a:fillRect/>
          </a:stretch>
        </p:blipFill>
        <p:spPr>
          <a:xfrm>
            <a:off x="7249160" y="1849120"/>
            <a:ext cx="4206240" cy="26806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836206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41EC3-3C14-5615-4439-C3BA7E5FC2BA}"/>
              </a:ext>
            </a:extLst>
          </p:cNvPr>
          <p:cNvSpPr>
            <a:spLocks noGrp="1"/>
          </p:cNvSpPr>
          <p:nvPr>
            <p:ph type="title"/>
          </p:nvPr>
        </p:nvSpPr>
        <p:spPr>
          <a:xfrm>
            <a:off x="332740" y="2097405"/>
            <a:ext cx="11214100" cy="535531"/>
          </a:xfrm>
        </p:spPr>
        <p:txBody>
          <a:bodyPr/>
          <a:lstStyle/>
          <a:p>
            <a:r>
              <a:rPr lang="en-US" dirty="0"/>
              <a:t>“Thank you for your time and attention!”</a:t>
            </a:r>
            <a:endParaRPr lang="en-IN" dirty="0"/>
          </a:p>
        </p:txBody>
      </p:sp>
      <p:sp>
        <p:nvSpPr>
          <p:cNvPr id="4" name="Text Placeholder 3">
            <a:extLst>
              <a:ext uri="{FF2B5EF4-FFF2-40B4-BE49-F238E27FC236}">
                <a16:creationId xmlns:a16="http://schemas.microsoft.com/office/drawing/2014/main" id="{6297DF42-630C-6C07-5D93-12DED26B00EB}"/>
              </a:ext>
            </a:extLst>
          </p:cNvPr>
          <p:cNvSpPr>
            <a:spLocks noGrp="1"/>
          </p:cNvSpPr>
          <p:nvPr>
            <p:ph type="body" sz="quarter" idx="13"/>
          </p:nvPr>
        </p:nvSpPr>
        <p:spPr>
          <a:xfrm>
            <a:off x="647700" y="2769326"/>
            <a:ext cx="6718300" cy="1319348"/>
          </a:xfrm>
        </p:spPr>
        <p:txBody>
          <a:bodyPr/>
          <a:lstStyle/>
          <a:p>
            <a:pPr marL="0" indent="0">
              <a:buNone/>
            </a:pPr>
            <a:r>
              <a:rPr lang="en-US" dirty="0"/>
              <a:t>Proud to share my journey with the CSE Department Portal.</a:t>
            </a:r>
            <a:endParaRPr lang="en-IN" dirty="0"/>
          </a:p>
        </p:txBody>
      </p:sp>
      <p:sp>
        <p:nvSpPr>
          <p:cNvPr id="6" name="TextBox 5">
            <a:extLst>
              <a:ext uri="{FF2B5EF4-FFF2-40B4-BE49-F238E27FC236}">
                <a16:creationId xmlns:a16="http://schemas.microsoft.com/office/drawing/2014/main" id="{8CDE52AA-1DCA-72E7-4F99-B9F57B6A41C8}"/>
              </a:ext>
            </a:extLst>
          </p:cNvPr>
          <p:cNvSpPr txBox="1"/>
          <p:nvPr/>
        </p:nvSpPr>
        <p:spPr>
          <a:xfrm>
            <a:off x="9367520" y="5793155"/>
            <a:ext cx="2682240" cy="584775"/>
          </a:xfrm>
          <a:prstGeom prst="rect">
            <a:avLst/>
          </a:prstGeom>
          <a:noFill/>
        </p:spPr>
        <p:txBody>
          <a:bodyPr wrap="square">
            <a:spAutoFit/>
          </a:bodyPr>
          <a:lstStyle/>
          <a:p>
            <a:r>
              <a:rPr lang="en-IN" sz="1600" dirty="0">
                <a:solidFill>
                  <a:schemeClr val="bg1"/>
                </a:solidFill>
              </a:rPr>
              <a:t>Presented By: B Ruchitha</a:t>
            </a:r>
          </a:p>
          <a:p>
            <a:r>
              <a:rPr lang="en-IN" sz="1600" dirty="0">
                <a:solidFill>
                  <a:schemeClr val="bg1"/>
                </a:solidFill>
              </a:rPr>
              <a:t>Date: 24/4/25</a:t>
            </a:r>
          </a:p>
        </p:txBody>
      </p:sp>
    </p:spTree>
    <p:extLst>
      <p:ext uri="{BB962C8B-B14F-4D97-AF65-F5344CB8AC3E}">
        <p14:creationId xmlns:p14="http://schemas.microsoft.com/office/powerpoint/2010/main" val="40438897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624</TotalTime>
  <Words>941</Words>
  <Application>Microsoft Office PowerPoint</Application>
  <PresentationFormat>Widescreen</PresentationFormat>
  <Paragraphs>87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Trade Gothic LT Pro</vt:lpstr>
      <vt:lpstr>Trebuchet MS</vt:lpstr>
      <vt:lpstr>Office Theme</vt:lpstr>
      <vt:lpstr>"Building the CSE Department Portal: My Full-Stack Internship Journey at Abhivriddhi Infotech "</vt:lpstr>
      <vt:lpstr>CSE Department Portal: Full Stack Internship  at Abhivriddhi Edutech  </vt:lpstr>
      <vt:lpstr>CSE WEB PORTAL </vt:lpstr>
      <vt:lpstr>Technologies Used:  </vt:lpstr>
      <vt:lpstr>System Architecture: </vt:lpstr>
      <vt:lpstr>Core Features: </vt:lpstr>
      <vt:lpstr>OJT-I: Frontend Development at Abhivriddhi  Infotech</vt:lpstr>
      <vt:lpstr>OJT-I Use Case: Admin Adding Study Material </vt:lpstr>
      <vt:lpstr>OJT-II: Backend Development at  Abhivriddhi Infotech </vt:lpstr>
      <vt:lpstr>OJT-II Use Case: Student Accessing Materials </vt:lpstr>
      <vt:lpstr>“Thank you for your time and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Ruchitha B</dc:creator>
  <cp:lastModifiedBy>Ruchitha B</cp:lastModifiedBy>
  <cp:revision>5</cp:revision>
  <dcterms:created xsi:type="dcterms:W3CDTF">2025-04-23T14:13:46Z</dcterms:created>
  <dcterms:modified xsi:type="dcterms:W3CDTF">2025-04-24T01:43:05Z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